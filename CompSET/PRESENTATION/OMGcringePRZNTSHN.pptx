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75" r:id="rId5"/>
    <p:sldId id="276" r:id="rId6"/>
    <p:sldId id="277" r:id="rId7"/>
    <p:sldId id="278" r:id="rId8"/>
    <p:sldId id="280" r:id="rId9"/>
    <p:sldId id="281" r:id="rId10"/>
    <p:sldId id="279" r:id="rId11"/>
    <p:sldId id="283" r:id="rId12"/>
    <p:sldId id="282" r:id="rId13"/>
    <p:sldId id="26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72C"/>
    <a:srgbClr val="F3C230"/>
    <a:srgbClr val="E38179"/>
    <a:srgbClr val="915855"/>
    <a:srgbClr val="DB5349"/>
    <a:srgbClr val="F7CB3F"/>
    <a:srgbClr val="543F43"/>
    <a:srgbClr val="FDCF3A"/>
    <a:srgbClr val="FEBE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6FCA7-2AB9-4613-9C8F-0449284F6BF9}" v="728" dt="2026-02-15T21:33:03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32064 10599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24711 5405 16383 0 0,'0'-8'0'0'0,"0"-7"0"0"0,0-5 0 0 0,0-4 0 0 0,0-1 0 0 0,0 0 0 0 0,105-5 0 0 0,53-1 0 0 0,-13 0 0 0 0,79 2 0 0 0,0 1 0 0 0,-26 2 0 0 0,52-7 0 0 0,105 1 0 0 0,-12 3 0 0 0,-67 2 0 0 0,-78-3 0 0 0,-67-8 0 0 0,-65-3 0 0 0,-39 3 0 0 0,-27-2 0 0 0,0 3 0 0 0,-27 3 0 0 0,14 3 0 0 0,0 4 0 0 0,13 1 0 0 0,-13-3 0 0 0,13-4 0 0 0,0-2 0 0 0,0 3 0 0 0,0 1 0 0 0,0-3 0 0 0,0-1 0 0 0,0-2 0 0 0,0 3 0 0 0,0 3 0 0 0,0-2 0 0 0,0-3 0 0 0,0 0 0 0 0,0 2 0 0 0,0 3 0 0 0,0-1 0 0 0,0-5 0 0 0,0 1 0 0 0,0 2 0 0 0,0 3 0 0 0,0 3 0 0 0,0 1 0 0 0,0-2 0 0 0,0-4 0 0 0,0-2 0 0 0,0 1 0 0 0,0 3 0 0 0,0-1 0 0 0,0-5 0 0 0,0 2 0 0 0,0 0 0 0 0,0 4 0 0 0,0-2 0 0 0,0-3 0 0 0,0 0 0 0 0,0 3 0 0 0,0 1 0 0 0,0-1 0 0 0,0-2 0 0 0,0-1 0 0 0,0-2 0 0 0,0-3 0 0 0,0 2 0 0 0,0 2 0 0 0,0 5 0 0 0,0-1 0 0 0,0-3 0 0 0,0 0 0 0 0,0 2 0 0 0,0 3 0 0 0,0-1 0 0 0,0 4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32064 10599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32064 10599 16383 0 0,'0'0'0'0'0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24711 5405 16383 0 0,'0'-8'0'0'0,"0"-7"0"0"0,0-5 0 0 0,0-4 0 0 0,0-1 0 0 0,0 0 0 0 0,105-5 0 0 0,53-1 0 0 0,-13 0 0 0 0,79 2 0 0 0,0 1 0 0 0,-26 2 0 0 0,52-7 0 0 0,105 1 0 0 0,-12 3 0 0 0,-67 2 0 0 0,-78-3 0 0 0,-67-8 0 0 0,-65-3 0 0 0,-39 3 0 0 0,-27-2 0 0 0,0 3 0 0 0,-27 3 0 0 0,14 3 0 0 0,0 4 0 0 0,13 1 0 0 0,-13-3 0 0 0,13-4 0 0 0,0-2 0 0 0,0 3 0 0 0,0 1 0 0 0,0-3 0 0 0,0-1 0 0 0,0-2 0 0 0,0 3 0 0 0,0 3 0 0 0,0-2 0 0 0,0-3 0 0 0,0 0 0 0 0,0 2 0 0 0,0 3 0 0 0,0-1 0 0 0,0-5 0 0 0,0 1 0 0 0,0 2 0 0 0,0 3 0 0 0,0 3 0 0 0,0 1 0 0 0,0-2 0 0 0,0-4 0 0 0,0-2 0 0 0,0 1 0 0 0,0 3 0 0 0,0-1 0 0 0,0-5 0 0 0,0 2 0 0 0,0 0 0 0 0,0 4 0 0 0,0-2 0 0 0,0-3 0 0 0,0 0 0 0 0,0 3 0 0 0,0 1 0 0 0,0-1 0 0 0,0-2 0 0 0,0-1 0 0 0,0-2 0 0 0,0-3 0 0 0,0 2 0 0 0,0 2 0 0 0,0 5 0 0 0,0-1 0 0 0,0-3 0 0 0,0 0 0 0 0,0 2 0 0 0,0 3 0 0 0,0-1 0 0 0,0 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9.5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22304 11218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1.jpeg"/><Relationship Id="rId7" Type="http://schemas.openxmlformats.org/officeDocument/2006/relationships/image" Target="../media/image1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4.png"/><Relationship Id="rId4" Type="http://schemas.openxmlformats.org/officeDocument/2006/relationships/image" Target="../media/image6.jpe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.png"/><Relationship Id="rId3" Type="http://schemas.openxmlformats.org/officeDocument/2006/relationships/customXml" Target="../ink/ink1.xml"/><Relationship Id="rId12" Type="http://schemas.openxmlformats.org/officeDocument/2006/relationships/customXml" Target="../ink/ink4.xml"/><Relationship Id="rId17" Type="http://schemas.openxmlformats.org/officeDocument/2006/relationships/image" Target="../media/image6.jpeg"/><Relationship Id="rId2" Type="http://schemas.openxmlformats.org/officeDocument/2006/relationships/image" Target="../media/image16.jpeg"/><Relationship Id="rId16" Type="http://schemas.openxmlformats.org/officeDocument/2006/relationships/image" Target="../media/image10.pn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customXml" Target="../ink/ink2.xml"/><Relationship Id="rId15" Type="http://schemas.openxmlformats.org/officeDocument/2006/relationships/customXml" Target="../ink/ink5.xml"/><Relationship Id="rId10" Type="http://schemas.openxmlformats.org/officeDocument/2006/relationships/customXml" Target="../ink/ink3.xml"/><Relationship Id="rId19" Type="http://schemas.openxmlformats.org/officeDocument/2006/relationships/image" Target="../media/image17.jpe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20.jpeg"/><Relationship Id="rId7" Type="http://schemas.openxmlformats.org/officeDocument/2006/relationships/customXml" Target="../ink/ink9.xml"/><Relationship Id="rId12" Type="http://schemas.openxmlformats.org/officeDocument/2006/relationships/image" Target="../media/image19.jpeg"/><Relationship Id="rId17" Type="http://schemas.openxmlformats.org/officeDocument/2006/relationships/image" Target="../media/image24.jpeg"/><Relationship Id="rId2" Type="http://schemas.openxmlformats.org/officeDocument/2006/relationships/customXml" Target="../ink/ink6.xml"/><Relationship Id="rId16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4.png"/><Relationship Id="rId5" Type="http://schemas.openxmlformats.org/officeDocument/2006/relationships/customXml" Target="../ink/ink7.xml"/><Relationship Id="rId15" Type="http://schemas.openxmlformats.org/officeDocument/2006/relationships/image" Target="../media/image22.jpeg"/><Relationship Id="rId10" Type="http://schemas.openxmlformats.org/officeDocument/2006/relationships/image" Target="../media/image6.jpeg"/><Relationship Id="rId4" Type="http://schemas.openxmlformats.org/officeDocument/2006/relationships/image" Target="../media/image18.png"/><Relationship Id="rId9" Type="http://schemas.openxmlformats.org/officeDocument/2006/relationships/image" Target="../media/image19.png"/><Relationship Id="rId1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24.png"/><Relationship Id="rId18" Type="http://schemas.openxmlformats.org/officeDocument/2006/relationships/image" Target="../media/image27.jpeg"/><Relationship Id="rId21" Type="http://schemas.openxmlformats.org/officeDocument/2006/relationships/image" Target="../media/image30.jpeg"/><Relationship Id="rId7" Type="http://schemas.openxmlformats.org/officeDocument/2006/relationships/customXml" Target="../ink/ink14.xml"/><Relationship Id="rId12" Type="http://schemas.openxmlformats.org/officeDocument/2006/relationships/customXml" Target="../ink/ink17.xml"/><Relationship Id="rId17" Type="http://schemas.openxmlformats.org/officeDocument/2006/relationships/image" Target="../media/image26.jpeg"/><Relationship Id="rId2" Type="http://schemas.openxmlformats.org/officeDocument/2006/relationships/customXml" Target="../ink/ink11.xml"/><Relationship Id="rId16" Type="http://schemas.openxmlformats.org/officeDocument/2006/relationships/image" Target="../media/image25.jpeg"/><Relationship Id="rId20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19.png"/><Relationship Id="rId5" Type="http://schemas.openxmlformats.org/officeDocument/2006/relationships/customXml" Target="../ink/ink12.xml"/><Relationship Id="rId15" Type="http://schemas.openxmlformats.org/officeDocument/2006/relationships/image" Target="../media/image4.png"/><Relationship Id="rId10" Type="http://schemas.openxmlformats.org/officeDocument/2006/relationships/customXml" Target="../ink/ink16.xml"/><Relationship Id="rId19" Type="http://schemas.openxmlformats.org/officeDocument/2006/relationships/image" Target="../media/image28.jpe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6.jpeg"/><Relationship Id="rId22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5.jpeg"/><Relationship Id="rId3" Type="http://schemas.openxmlformats.org/officeDocument/2006/relationships/image" Target="../media/image18.png"/><Relationship Id="rId7" Type="http://schemas.openxmlformats.org/officeDocument/2006/relationships/customXml" Target="../ink/ink22.xml"/><Relationship Id="rId12" Type="http://schemas.openxmlformats.org/officeDocument/2006/relationships/image" Target="../media/image34.jpeg"/><Relationship Id="rId2" Type="http://schemas.openxmlformats.org/officeDocument/2006/relationships/customXml" Target="../ink/ink18.xml"/><Relationship Id="rId16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11" Type="http://schemas.openxmlformats.org/officeDocument/2006/relationships/image" Target="../media/image33.jpeg"/><Relationship Id="rId5" Type="http://schemas.openxmlformats.org/officeDocument/2006/relationships/customXml" Target="../ink/ink20.xml"/><Relationship Id="rId15" Type="http://schemas.openxmlformats.org/officeDocument/2006/relationships/image" Target="../media/image36.jpeg"/><Relationship Id="rId10" Type="http://schemas.openxmlformats.org/officeDocument/2006/relationships/image" Target="../media/image32.jpeg"/><Relationship Id="rId4" Type="http://schemas.openxmlformats.org/officeDocument/2006/relationships/customXml" Target="../ink/ink19.xml"/><Relationship Id="rId9" Type="http://schemas.openxmlformats.org/officeDocument/2006/relationships/image" Target="../media/image4.png"/><Relationship Id="rId1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6.jpeg"/><Relationship Id="rId18" Type="http://schemas.openxmlformats.org/officeDocument/2006/relationships/image" Target="../media/image42.jpeg"/><Relationship Id="rId3" Type="http://schemas.openxmlformats.org/officeDocument/2006/relationships/image" Target="../media/image38.png"/><Relationship Id="rId21" Type="http://schemas.openxmlformats.org/officeDocument/2006/relationships/image" Target="../media/image45.jpe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17" Type="http://schemas.openxmlformats.org/officeDocument/2006/relationships/image" Target="../media/image41.jpeg"/><Relationship Id="rId2" Type="http://schemas.openxmlformats.org/officeDocument/2006/relationships/customXml" Target="../ink/ink23.xml"/><Relationship Id="rId16" Type="http://schemas.openxmlformats.org/officeDocument/2006/relationships/image" Target="../media/image40.jpeg"/><Relationship Id="rId20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42.png"/><Relationship Id="rId24" Type="http://schemas.openxmlformats.org/officeDocument/2006/relationships/image" Target="../media/image48.jpeg"/><Relationship Id="rId5" Type="http://schemas.openxmlformats.org/officeDocument/2006/relationships/image" Target="../media/image39.png"/><Relationship Id="rId15" Type="http://schemas.openxmlformats.org/officeDocument/2006/relationships/image" Target="../media/image39.jpeg"/><Relationship Id="rId23" Type="http://schemas.openxmlformats.org/officeDocument/2006/relationships/image" Target="../media/image47.jpeg"/><Relationship Id="rId10" Type="http://schemas.openxmlformats.org/officeDocument/2006/relationships/customXml" Target="../ink/ink27.xml"/><Relationship Id="rId19" Type="http://schemas.openxmlformats.org/officeDocument/2006/relationships/image" Target="../media/image43.jpeg"/><Relationship Id="rId4" Type="http://schemas.openxmlformats.org/officeDocument/2006/relationships/customXml" Target="../ink/ink24.xml"/><Relationship Id="rId9" Type="http://schemas.openxmlformats.org/officeDocument/2006/relationships/image" Target="../media/image41.png"/><Relationship Id="rId14" Type="http://schemas.openxmlformats.org/officeDocument/2006/relationships/image" Target="../media/image38.jpeg"/><Relationship Id="rId22" Type="http://schemas.openxmlformats.org/officeDocument/2006/relationships/image" Target="../media/image4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3" Type="http://schemas.openxmlformats.org/officeDocument/2006/relationships/image" Target="../media/image50.jpeg"/><Relationship Id="rId7" Type="http://schemas.openxmlformats.org/officeDocument/2006/relationships/customXml" Target="../ink/ink30.xml"/><Relationship Id="rId12" Type="http://schemas.openxmlformats.org/officeDocument/2006/relationships/image" Target="../media/image6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image" Target="../media/image4.png"/><Relationship Id="rId5" Type="http://schemas.openxmlformats.org/officeDocument/2006/relationships/image" Target="../media/image38.png"/><Relationship Id="rId10" Type="http://schemas.openxmlformats.org/officeDocument/2006/relationships/image" Target="../media/image40.png"/><Relationship Id="rId4" Type="http://schemas.openxmlformats.org/officeDocument/2006/relationships/customXml" Target="../ink/ink28.xml"/><Relationship Id="rId9" Type="http://schemas.openxmlformats.org/officeDocument/2006/relationships/customXml" Target="../ink/ink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1318ED-2AB3-1C92-7657-9E0DA577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" r="26220" b="-346"/>
          <a:stretch>
            <a:fillRect/>
          </a:stretch>
        </p:blipFill>
        <p:spPr>
          <a:xfrm>
            <a:off x="0" y="-85947"/>
            <a:ext cx="12189378" cy="6957091"/>
          </a:xfrm>
          <a:prstGeom prst="rect">
            <a:avLst/>
          </a:prstGeom>
        </p:spPr>
      </p:pic>
      <p:pic>
        <p:nvPicPr>
          <p:cNvPr id="7" name="Рисунок 6" descr="Изображение выглядит как электроника, телефон, Электронное устройство, Телефо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C7E05C-643F-2300-0849-19A9DC30B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05" y="5067759"/>
            <a:ext cx="3773278" cy="1790241"/>
          </a:xfrm>
          <a:prstGeom prst="rect">
            <a:avLst/>
          </a:prstGeom>
        </p:spPr>
      </p:pic>
      <p:pic>
        <p:nvPicPr>
          <p:cNvPr id="8" name="Рисунок 7" descr="Изображение выглядит как графическая вставка, смайлик, эмотикон, желтый&#10;&#10;Автоматически созданное описание">
            <a:extLst>
              <a:ext uri="{FF2B5EF4-FFF2-40B4-BE49-F238E27FC236}">
                <a16:creationId xmlns:a16="http://schemas.microsoft.com/office/drawing/2014/main" id="{A7BEE195-EDF8-8AFE-897E-1648C51D9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032" y="3435279"/>
            <a:ext cx="2247900" cy="146775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8E6E0-48F1-6707-E044-FD6D79EE1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0480" y="1633136"/>
            <a:ext cx="7049245" cy="239451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z="4800" dirty="0">
                <a:highlight>
                  <a:srgbClr val="FDCF3A"/>
                </a:highlight>
                <a:ea typeface="+mj-lt"/>
                <a:cs typeface="+mj-lt"/>
              </a:rPr>
              <a:t>История Телекоммуникационных систем</a:t>
            </a:r>
            <a:endParaRPr lang="ru-RU" sz="5400" b="1" dirty="0">
              <a:highlight>
                <a:srgbClr val="FDCF3A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030FE5-C978-F8F3-CEF8-639D31F94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9357" y="5267148"/>
            <a:ext cx="5541818" cy="106309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Выполнила: студентка МФЮА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r>
              <a:rPr lang="ru-RU" dirty="0">
                <a:latin typeface="Calibri"/>
                <a:ea typeface="Calibri"/>
                <a:cs typeface="Calibri"/>
              </a:rPr>
              <a:t>2 курса 28ИПо8481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r>
              <a:rPr lang="ru-RU" dirty="0">
                <a:latin typeface="Calibri"/>
                <a:ea typeface="Calibri"/>
                <a:cs typeface="Calibri"/>
              </a:rPr>
              <a:t>Винокурова М.А.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endParaRPr lang="ru-RU" dirty="0">
              <a:latin typeface="Calibri"/>
              <a:ea typeface="Calibri"/>
              <a:cs typeface="Calibri"/>
            </a:endParaRPr>
          </a:p>
        </p:txBody>
      </p:sp>
      <p:pic>
        <p:nvPicPr>
          <p:cNvPr id="12" name="Рисунок 1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A6EF70E2-132E-28C6-223F-18E62416A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111" y="4878705"/>
            <a:ext cx="758825" cy="575310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земля, обувь, млекопитающе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290FB2-988C-18CA-00C6-6EFB145E6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00889"/>
            <a:ext cx="2231571" cy="6157111"/>
          </a:xfrm>
          <a:prstGeom prst="rect">
            <a:avLst/>
          </a:prstGeom>
        </p:spPr>
      </p:pic>
      <p:pic>
        <p:nvPicPr>
          <p:cNvPr id="29" name="Рисунок 28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62E4DF-54B5-45ED-165C-75F62434A9F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8000"/>
          </a:blip>
          <a:stretch>
            <a:fillRect/>
          </a:stretch>
        </p:blipFill>
        <p:spPr>
          <a:xfrm>
            <a:off x="2233927" y="5169141"/>
            <a:ext cx="1166561" cy="1693227"/>
          </a:xfrm>
          <a:prstGeom prst="rect">
            <a:avLst/>
          </a:prstGeom>
        </p:spPr>
      </p:pic>
      <p:pic>
        <p:nvPicPr>
          <p:cNvPr id="6" name="Рисунок 5" descr="Изображение пина-истории">
            <a:extLst>
              <a:ext uri="{FF2B5EF4-FFF2-40B4-BE49-F238E27FC236}">
                <a16:creationId xmlns:a16="http://schemas.microsoft.com/office/drawing/2014/main" id="{3EEC4C49-48D0-D147-231A-7988570877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31" y="916105"/>
            <a:ext cx="3955054" cy="144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3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кот, Кошачьи, Мелкие и средние кошки, Мобильный теле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41E808-30F7-6830-ED4F-A52A3337E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356" y="0"/>
            <a:ext cx="9598073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Рисунок 6" descr="Изображение выглядит как млекопитающее, кот, Мелкие и средние кошки, Вибрис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5F4D1A-D568-7AD0-F1F2-BC288E51D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03" y="5629912"/>
            <a:ext cx="1207494" cy="122808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0A69E-E60C-D109-795F-2EF1F168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104" y="952691"/>
            <a:ext cx="4317948" cy="1220538"/>
          </a:xfrm>
          <a:solidFill>
            <a:srgbClr val="FBC72C"/>
          </a:solidFill>
        </p:spPr>
        <p:txBody>
          <a:bodyPr>
            <a:normAutofit fontScale="90000"/>
          </a:bodyPr>
          <a:lstStyle/>
          <a:p>
            <a:r>
              <a:rPr lang="ru-RU" sz="4000" b="1" dirty="0">
                <a:ea typeface="+mj-lt"/>
                <a:cs typeface="+mj-lt"/>
              </a:rPr>
              <a:t>Зарождение: Телеграф и телефон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F2A5F4-0478-E185-1A6D-2AE15E034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103" y="2434201"/>
            <a:ext cx="5506631" cy="3742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"/>
              <a:buChar char="•"/>
            </a:pPr>
            <a:r>
              <a:rPr lang="ru-RU" sz="2400" b="1" dirty="0">
                <a:ea typeface="+mn-lt"/>
                <a:cs typeface="+mn-lt"/>
              </a:rPr>
              <a:t>1837 год:</a:t>
            </a:r>
            <a:r>
              <a:rPr lang="ru-RU" sz="2400" dirty="0">
                <a:ea typeface="+mn-lt"/>
                <a:cs typeface="+mn-lt"/>
              </a:rPr>
              <a:t> Сэмюэл Морзе создал электромагнитный телеграф и азбуку Морзе. Информация впервые стала передаваться быстрее скорости поезда.</a:t>
            </a:r>
            <a:endParaRPr lang="ru-RU" dirty="0"/>
          </a:p>
          <a:p>
            <a:pPr>
              <a:buFont typeface="Arial"/>
              <a:buChar char="•"/>
            </a:pPr>
            <a:r>
              <a:rPr lang="ru-RU" sz="2400" b="1" dirty="0">
                <a:ea typeface="+mn-lt"/>
                <a:cs typeface="+mn-lt"/>
              </a:rPr>
              <a:t>1876 год:</a:t>
            </a:r>
            <a:r>
              <a:rPr lang="ru-RU" sz="2400" dirty="0">
                <a:ea typeface="+mn-lt"/>
                <a:cs typeface="+mn-lt"/>
              </a:rPr>
              <a:t> Александр Белл запатентовал телефон. Голос превратился в электрический сигнал, появились первые телефонные станции с телефонистками.</a:t>
            </a:r>
            <a:endParaRPr lang="ru-RU" dirty="0">
              <a:ea typeface="+mn-lt"/>
              <a:cs typeface="+mn-lt"/>
            </a:endParaRPr>
          </a:p>
        </p:txBody>
      </p:sp>
      <p:pic>
        <p:nvPicPr>
          <p:cNvPr id="14" name="Рисунок 13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560918-D896-89A2-62F0-EEEC19375CC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8000"/>
          </a:blip>
          <a:stretch>
            <a:fillRect/>
          </a:stretch>
        </p:blipFill>
        <p:spPr>
          <a:xfrm>
            <a:off x="5718" y="6265332"/>
            <a:ext cx="469695" cy="592668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2DD4F03F-86E8-6402-2C66-40E156AAF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47" y="381108"/>
            <a:ext cx="758825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7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млекопитающее, Кошачьи, Мелкие и средние кошки, ко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99390F-81CB-26AC-44AC-199C801D6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481" y="0"/>
            <a:ext cx="5438775" cy="6858000"/>
          </a:xfrm>
          <a:prstGeom prst="rect">
            <a:avLst/>
          </a:prstGeom>
        </p:spPr>
      </p:pic>
      <p:pic>
        <p:nvPicPr>
          <p:cNvPr id="6" name="Рисунок 5" descr="Изображение выглядит как стерео, Радио, Электронное устройство, электрон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EBEB8A-3315-4DD1-0CFD-5631CC49F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803" y="5218697"/>
            <a:ext cx="4000500" cy="164431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B5C30-9623-0A81-D360-E791D141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81" y="107826"/>
            <a:ext cx="5973289" cy="1355251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Беспроводная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революция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: Радио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0E35B-CE4D-DE35-CC90-8DB66EE5B59A}"/>
              </a:ext>
            </a:extLst>
          </p:cNvPr>
          <p:cNvSpPr txBox="1"/>
          <p:nvPr/>
        </p:nvSpPr>
        <p:spPr>
          <a:xfrm>
            <a:off x="128030" y="1459635"/>
            <a:ext cx="5967350" cy="332398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1895 </a:t>
            </a:r>
            <a:r>
              <a:rPr lang="en-US" sz="2400" b="1" err="1">
                <a:ea typeface="+mn-lt"/>
                <a:cs typeface="+mn-lt"/>
              </a:rPr>
              <a:t>год</a:t>
            </a:r>
            <a:r>
              <a:rPr lang="en-US" sz="2400" b="1" dirty="0">
                <a:ea typeface="+mn-lt"/>
                <a:cs typeface="+mn-lt"/>
              </a:rPr>
              <a:t>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Александр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Попов</a:t>
            </a:r>
            <a:r>
              <a:rPr lang="en-US" sz="2400" dirty="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Гульельмо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Маркони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изобрели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радио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Главное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достижение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err="1">
                <a:ea typeface="+mn-lt"/>
                <a:cs typeface="+mn-lt"/>
              </a:rPr>
              <a:t>связь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заработала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там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где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нельзя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проложить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кабель</a:t>
            </a:r>
            <a:r>
              <a:rPr lang="en-US" sz="2400" dirty="0">
                <a:ea typeface="+mn-lt"/>
                <a:cs typeface="+mn-lt"/>
              </a:rPr>
              <a:t> — </a:t>
            </a:r>
            <a:r>
              <a:rPr lang="en-US" sz="2400" err="1">
                <a:ea typeface="+mn-lt"/>
                <a:cs typeface="+mn-lt"/>
              </a:rPr>
              <a:t>например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на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кораблях</a:t>
            </a:r>
            <a:r>
              <a:rPr lang="en-US" sz="2400" dirty="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море</a:t>
            </a:r>
            <a:r>
              <a:rPr lang="en-US" sz="2400" dirty="0">
                <a:ea typeface="+mn-lt"/>
                <a:cs typeface="+mn-lt"/>
              </a:rPr>
              <a:t>. Радио </a:t>
            </a:r>
            <a:r>
              <a:rPr lang="en-US" sz="2400" err="1">
                <a:ea typeface="+mn-lt"/>
                <a:cs typeface="+mn-lt"/>
              </a:rPr>
              <a:t>стало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первым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средством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массовой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информации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ru-RU" sz="240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dirty="0">
              <a:latin typeface="Aptos"/>
              <a:ea typeface="Roboto"/>
              <a:cs typeface="Roboto"/>
            </a:endParaRPr>
          </a:p>
        </p:txBody>
      </p:sp>
      <p:pic>
        <p:nvPicPr>
          <p:cNvPr id="20" name="Рисунок 19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43940C-EF83-131E-EFF1-35788B484B9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1000"/>
          </a:blip>
          <a:stretch>
            <a:fillRect/>
          </a:stretch>
        </p:blipFill>
        <p:spPr>
          <a:xfrm>
            <a:off x="-4365" y="5427207"/>
            <a:ext cx="3805115" cy="158131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03613D37-7478-651C-F5F2-B57EAB027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100774" y="5217754"/>
            <a:ext cx="849841" cy="575310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4ADC8FEF-7648-5F86-4E85-F1FBA82F0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pic>
        <p:nvPicPr>
          <p:cNvPr id="8" name="Рисунок 7" descr="Изображение выглядит как текст, домашняя кошка, Мелкие и средние кошки, ко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791877-AC58-6D33-4E01-17342C9F40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662" y="110289"/>
            <a:ext cx="1385941" cy="1353553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лака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48EDE3-E717-6B25-7105-9E5F2E015E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4471" y="2044867"/>
            <a:ext cx="2127585" cy="214663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03A02FB-9C50-BB05-0B1D-170499F0B4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0" y="6217068"/>
            <a:ext cx="1905000" cy="640181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человек, Мобильный телефон, текст, Портативное устройство связ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6D6EEC-C15A-ABE3-A570-DC910701D0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2011" y="4103020"/>
            <a:ext cx="1896979" cy="185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1351-3699-41DA-6A45-9B52FA4B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 descr="Изображение выглядит как Кошачьи, Мелкие и средние кошки, Вибриссы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938678-BC58-7E35-B119-FE0A3FA5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486" y="4588795"/>
            <a:ext cx="2857500" cy="2272465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ED11325-40D7-C68E-BE0A-A90C67F6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312801E-23CD-FC17-6AAD-FBE94780CCB9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312801E-23CD-FC17-6AAD-FBE94780CC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A6B6BE49-6074-0F60-A11B-690D86DF8088}"/>
                  </a:ext>
                </a:extLst>
              </p14:cNvPr>
              <p14:cNvContentPartPr/>
              <p14:nvPr/>
            </p14:nvContentPartPr>
            <p14:xfrm flipV="1">
              <a:off x="71120" y="3048000"/>
              <a:ext cx="9712960" cy="13208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A6B6BE49-6074-0F60-A11B-690D86DF80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flipV="1">
                <a:off x="-1699696880" y="-20066000"/>
                <a:ext cx="2147483647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E9092E1F-EF08-65FC-ED33-97382376360F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E9092E1F-EF08-65FC-ED33-9738237636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DBF90334-050C-F165-B139-F4DB545AEEFA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DBF90334-050C-F165-B139-F4DB545AEEF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D5E17817-0733-80B3-21FF-9ABC1743FFC8}"/>
                  </a:ext>
                </a:extLst>
              </p14:cNvPr>
              <p14:cNvContentPartPr/>
              <p14:nvPr/>
            </p14:nvContentPartPr>
            <p14:xfrm flipH="1">
              <a:off x="7393784" y="715929"/>
              <a:ext cx="974549" cy="901315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D5E17817-0733-80B3-21FF-9ABC1743FF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 flipH="1">
                <a:off x="7330642" y="652963"/>
                <a:ext cx="1100472" cy="102688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375E4-E71F-A24B-0F35-A8DBB296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797" y="464086"/>
            <a:ext cx="6548825" cy="90003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highlight>
                  <a:srgbClr val="F3C230"/>
                </a:highlight>
                <a:ea typeface="+mj-lt"/>
                <a:cs typeface="+mj-lt"/>
              </a:rPr>
              <a:t>Автоматизация и глобализация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456CF-13BF-0DF7-D210-89BA154B1227}"/>
              </a:ext>
            </a:extLst>
          </p:cNvPr>
          <p:cNvSpPr txBox="1"/>
          <p:nvPr/>
        </p:nvSpPr>
        <p:spPr>
          <a:xfrm>
            <a:off x="4933292" y="1935257"/>
            <a:ext cx="710866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Телефонисток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сменили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автоматические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станции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 (АТС).</a:t>
            </a:r>
            <a:endParaRPr lang="ru-RU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222222"/>
                </a:solidFill>
                <a:ea typeface="+mn-lt"/>
                <a:cs typeface="+mn-lt"/>
              </a:rPr>
              <a:t>1947 </a:t>
            </a:r>
            <a:r>
              <a:rPr lang="en-US" sz="2400" b="1" dirty="0" err="1">
                <a:solidFill>
                  <a:srgbClr val="222222"/>
                </a:solidFill>
                <a:ea typeface="+mn-lt"/>
                <a:cs typeface="+mn-lt"/>
              </a:rPr>
              <a:t>год</a:t>
            </a:r>
            <a:r>
              <a:rPr lang="en-US" sz="2400" b="1" dirty="0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Изобретение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транзистора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Аппаратура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стала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компактной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дешевой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надежной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дну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океанов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проложили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первые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кабели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соединив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континенты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6" name="Рисунок 15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3E0333-0CEA-0269-E580-F85C46D7BCE6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48000"/>
          </a:blip>
          <a:stretch>
            <a:fillRect/>
          </a:stretch>
        </p:blipFill>
        <p:spPr>
          <a:xfrm flipH="1">
            <a:off x="4300884" y="5629961"/>
            <a:ext cx="4536407" cy="1093983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1A75226F-49A6-E94C-4852-7370B522A93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9534893" y="874873"/>
            <a:ext cx="1000360" cy="57531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Человеческое лицо, человек, одежд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9C9F75-2B25-3A4F-4950-E94734407F4E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5623" r="4375" b="-286"/>
          <a:stretch>
            <a:fillRect/>
          </a:stretch>
        </p:blipFill>
        <p:spPr>
          <a:xfrm>
            <a:off x="69838" y="341395"/>
            <a:ext cx="3760416" cy="469084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4" name="Рисунок 13" descr="Изображение выглядит как череп, фильм ужасов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F23B17-0AF0-54A9-A77E-5533C718E7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06877" y="3569368"/>
            <a:ext cx="1646351" cy="1814764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BFF430-9473-00AB-55A1-1C347377336C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48000"/>
          </a:blip>
          <a:stretch>
            <a:fillRect/>
          </a:stretch>
        </p:blipFill>
        <p:spPr>
          <a:xfrm>
            <a:off x="3834161" y="135540"/>
            <a:ext cx="546933" cy="3430113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AA942B-0691-0CC8-FDA6-4E99C59B62DF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48000"/>
          </a:blip>
          <a:stretch>
            <a:fillRect/>
          </a:stretch>
        </p:blipFill>
        <p:spPr>
          <a:xfrm flipH="1">
            <a:off x="10426962" y="346092"/>
            <a:ext cx="1007144" cy="111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8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8388-3390-BC5D-AF0D-73BA0F5F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69382A3-271F-6950-FBC6-C4AECCF20D8E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69382A3-271F-6950-FBC6-C4AECCF20D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DD708CDB-1010-F4F7-3A8D-6C303A7D238D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DD708CDB-1010-F4F7-3A8D-6C303A7D23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9B0A3287-72C0-D4C9-336C-224FECA5D051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9B0A3287-72C0-D4C9-336C-224FECA5D0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DC2287E-F0E7-24E0-7F57-354D25BC1B09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DC2287E-F0E7-24E0-7F57-354D25BC1B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92765B0E-61B6-3035-909C-A979D8BB1501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92765B0E-61B6-3035-909C-A979D8BB15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513B6-EB83-CE5C-38D0-6CC8581E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622424"/>
            <a:ext cx="7121236" cy="900031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highlight>
                  <a:srgbClr val="F3C230"/>
                </a:highlight>
                <a:ea typeface="+mj-lt"/>
                <a:cs typeface="+mj-lt"/>
              </a:rPr>
              <a:t>Цифровая эра и рождение Интернета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33234-0FFC-C206-3A77-3FA855E3FE3E}"/>
              </a:ext>
            </a:extLst>
          </p:cNvPr>
          <p:cNvSpPr txBox="1"/>
          <p:nvPr/>
        </p:nvSpPr>
        <p:spPr>
          <a:xfrm>
            <a:off x="310510" y="1524959"/>
            <a:ext cx="710866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Переход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от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аналога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к "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цифре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" (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кодирование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нулями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единицами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).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222222"/>
                </a:solidFill>
                <a:ea typeface="+mn-lt"/>
                <a:cs typeface="+mn-lt"/>
              </a:rPr>
              <a:t>1969 </a:t>
            </a:r>
            <a:r>
              <a:rPr lang="en-US" sz="2400" b="1" dirty="0" err="1">
                <a:solidFill>
                  <a:srgbClr val="222222"/>
                </a:solidFill>
                <a:ea typeface="+mn-lt"/>
                <a:cs typeface="+mn-lt"/>
              </a:rPr>
              <a:t>год</a:t>
            </a:r>
            <a:r>
              <a:rPr lang="en-US" sz="2400" b="1" dirty="0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Запуск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ARPANET 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прародителя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современного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Интернета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Изобретение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оптоволокна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: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передача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информации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с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помощью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света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огромная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скорость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объем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данных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6" name="Рисунок 15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ECCEB8-0F5C-2CAD-34E3-091111390FA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48000"/>
          </a:blip>
          <a:stretch>
            <a:fillRect/>
          </a:stretch>
        </p:blipFill>
        <p:spPr>
          <a:xfrm flipH="1">
            <a:off x="6740127" y="1542813"/>
            <a:ext cx="856749" cy="3009010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FCD40DEA-CD5A-B61F-C591-ABBEB17292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019" y="339021"/>
            <a:ext cx="1152945" cy="565903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Устройство отображения, монитор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31E651-2456-8DDF-DB55-E018302292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4471" y="2507"/>
            <a:ext cx="4293769" cy="6852986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ванная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1137FB-3AA3-3666-F4B1-502FBC19BB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252" y="5033210"/>
            <a:ext cx="1897481" cy="1814765"/>
          </a:xfrm>
          <a:prstGeom prst="rect">
            <a:avLst/>
          </a:prstGeom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9B7AB648-9D78-EDFC-2BC4-DD51A5C4002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707857" y="2417177"/>
            <a:ext cx="1546057" cy="37597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pic>
        <p:nvPicPr>
          <p:cNvPr id="17" name="Рисунок 16" descr="Изображение выглядит как текст, на открытом воздухе, человек, Наземный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00A611-10ED-CAE6-FA7E-112CA9B4CA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41151" y="4550814"/>
            <a:ext cx="3760943" cy="2308319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кот, Мелкие и средние кошки, млекопитающее, домашняя кош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2758C5-91A2-EAE1-9B57-10D12A736A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9616" y="5125954"/>
            <a:ext cx="3180347" cy="1619250"/>
          </a:xfrm>
          <a:prstGeom prst="rect">
            <a:avLst/>
          </a:prstGeom>
        </p:spPr>
      </p:pic>
      <p:sp>
        <p:nvSpPr>
          <p:cNvPr id="19" name="Пузырек для мыслей: облако 18">
            <a:extLst>
              <a:ext uri="{FF2B5EF4-FFF2-40B4-BE49-F238E27FC236}">
                <a16:creationId xmlns:a16="http://schemas.microsoft.com/office/drawing/2014/main" id="{C60F479E-8654-3C63-9416-71D99F536DE2}"/>
              </a:ext>
            </a:extLst>
          </p:cNvPr>
          <p:cNvSpPr/>
          <p:nvPr/>
        </p:nvSpPr>
        <p:spPr>
          <a:xfrm>
            <a:off x="4040605" y="4511841"/>
            <a:ext cx="2055394" cy="1193132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 descr="Изображение выглядит как человек, одежда, Человеческое лицо, удерж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E6BAF6-013E-3D78-9C39-887160EB791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76476" y="4598321"/>
            <a:ext cx="1583657" cy="11104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Рисунок 20" descr="Изображение выглядит как текст, снимок экрана, Цвет электр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11D386-253B-3AC7-A96A-AB9C0C764E5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2693" y="116806"/>
            <a:ext cx="2349167" cy="101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54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846B-FEF9-C847-8C44-3707C671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6199B7A-5B23-9E4F-DB2F-97D82731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6981EAB5-7F76-5E36-7FF7-DF1A898FE3A3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6981EAB5-7F76-5E36-7FF7-DF1A898FE3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87C363A7-D44F-4CF4-6B77-A22BD300DB17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87C363A7-D44F-4CF4-6B77-A22BD300DB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C7811F02-FAE6-A105-34D8-1D056F77865D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C7811F02-FAE6-A105-34D8-1D056F7786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56C82404-B5D7-0044-DEA9-4DED72D0F7EA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56C82404-B5D7-0044-DEA9-4DED72D0F7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C79F9260-DCDE-1873-4BD7-C7D1960556AC}"/>
                  </a:ext>
                </a:extLst>
              </p14:cNvPr>
              <p14:cNvContentPartPr/>
              <p14:nvPr/>
            </p14:nvContentPartPr>
            <p14:xfrm flipV="1">
              <a:off x="71120" y="3048000"/>
              <a:ext cx="9712960" cy="13208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C79F9260-DCDE-1873-4BD7-C7D1960556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flipV="1">
                <a:off x="-1699696880" y="-20066000"/>
                <a:ext cx="2147483647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10847199-A242-AC43-044E-B31EC925FB13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10847199-A242-AC43-044E-B31EC925FB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6E8BB31C-EAD2-8944-96F6-5818CAE6DFB2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6E8BB31C-EAD2-8944-96F6-5818CAE6DF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4324B-97F9-21D6-1B0E-6560893C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135" y="1265396"/>
            <a:ext cx="6428510" cy="900031"/>
          </a:xfrm>
        </p:spPr>
        <p:txBody>
          <a:bodyPr>
            <a:normAutofit/>
          </a:bodyPr>
          <a:lstStyle/>
          <a:p>
            <a:r>
              <a:rPr lang="ru-RU" b="1" dirty="0">
                <a:highlight>
                  <a:srgbClr val="F3C230"/>
                </a:highlight>
                <a:ea typeface="+mj-lt"/>
                <a:cs typeface="+mj-lt"/>
              </a:rPr>
              <a:t>Эпоха мобильной связи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2044D-CC99-3F98-5D14-F2A6864B39CD}"/>
              </a:ext>
            </a:extLst>
          </p:cNvPr>
          <p:cNvSpPr txBox="1"/>
          <p:nvPr/>
        </p:nvSpPr>
        <p:spPr>
          <a:xfrm>
            <a:off x="4930906" y="2501504"/>
            <a:ext cx="710866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222222"/>
                </a:solidFill>
                <a:ea typeface="+mn-lt"/>
                <a:cs typeface="+mn-lt"/>
              </a:rPr>
              <a:t>1980-е (1G):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Первые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сотовые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сети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Телефоны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размером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с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чемодан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222222"/>
                </a:solidFill>
                <a:ea typeface="+mn-lt"/>
                <a:cs typeface="+mn-lt"/>
              </a:rPr>
              <a:t>1990-е (2G):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Настоящая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революция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Телефоны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стали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маленькими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появились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SMS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мобильный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интернет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20" name="Рисунок 19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E86DFD-AC62-4B74-E078-ACD1BAD1AF9E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48000"/>
          </a:blip>
          <a:stretch>
            <a:fillRect/>
          </a:stretch>
        </p:blipFill>
        <p:spPr>
          <a:xfrm>
            <a:off x="4841125" y="5238440"/>
            <a:ext cx="4500150" cy="1620797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8D719168-9B23-9DB6-3AC7-5241002111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66346" y="1135681"/>
            <a:ext cx="758825" cy="57531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ноутбук, кот, в помещении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6396A0-9FD5-7679-8F7A-7AC9014798D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5684" y="4792579"/>
            <a:ext cx="2386263" cy="2065422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текст, мультфильм, плака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C48D2D-72DD-333B-BCCE-AD6CD6720AE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003" y="-3509"/>
            <a:ext cx="3741822" cy="3636545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текст, снимок экрана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B8AAB1-7664-53A4-4907-AC8D9027D97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60" y="3308433"/>
            <a:ext cx="2218323" cy="3549817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312144-A642-69E5-F236-676B6BB68D1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85474" y="3429000"/>
            <a:ext cx="2757237" cy="3429000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человек, мультфильм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7F2442-D924-84E5-C67E-97207D5A330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21189" y="-1252"/>
            <a:ext cx="1048753" cy="2629400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текст, Камеры и оптика, снимок экрана, проекто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EB97BE-00F2-5705-831A-123101A32A6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20024" y="233111"/>
            <a:ext cx="3159293" cy="897356"/>
          </a:xfrm>
          <a:prstGeom prst="rect">
            <a:avLst/>
          </a:prstGeom>
        </p:spPr>
      </p:pic>
      <p:pic>
        <p:nvPicPr>
          <p:cNvPr id="25" name="Рисунок 24" descr="Изображение выглядит как текст, одежда, человек, солнцезащитные оч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F45102-9CA6-0AFA-ACAC-9FD04B16E56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36032" y="0"/>
            <a:ext cx="111046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28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FC900-6F72-9D10-5021-EC3DE459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6019C35B-D1E0-499E-AAFC-594D25D7455C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6019C35B-D1E0-499E-AAFC-594D25D745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BC6413D9-BE50-6196-4D58-110698160968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BC6413D9-BE50-6196-4D58-1106981609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672D3E63-4489-3C27-0D1A-7A643738B203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672D3E63-4489-3C27-0D1A-7A643738B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FC050E5-5BC3-1254-603F-67C052899689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FC050E5-5BC3-1254-603F-67C0528996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FD02F1A2-4451-0E3E-4AF3-ADE4A87AF3B2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FD02F1A2-4451-0E3E-4AF3-ADE4A87AF3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EDFF2-325E-215A-943D-81594530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622424"/>
            <a:ext cx="4654763" cy="90003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00000"/>
                </a:solidFill>
                <a:highlight>
                  <a:srgbClr val="F3C230"/>
                </a:highlight>
                <a:ea typeface="+mj-lt"/>
                <a:cs typeface="+mj-lt"/>
              </a:rPr>
              <a:t>Интернет для всех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71491-F356-11AE-5867-95940A69630E}"/>
              </a:ext>
            </a:extLst>
          </p:cNvPr>
          <p:cNvSpPr txBox="1"/>
          <p:nvPr/>
        </p:nvSpPr>
        <p:spPr>
          <a:xfrm>
            <a:off x="290457" y="1615196"/>
            <a:ext cx="710866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Тим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Бернерс-Ли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изобрел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Всемирную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паутину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(WWW) 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сайты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ссылки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Интернет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стал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доступен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каждому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Сначала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был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медленный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dial-up,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затем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в 2000-х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пришел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скоростной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широкополосный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доступ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(ADSL,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оптоволокно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).</a:t>
            </a:r>
            <a:endParaRPr lang="ru-RU" dirty="0"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8" name="Рисунок 17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F00BD7E-BA21-283F-1B5C-CD8575E351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0715" y="332338"/>
            <a:ext cx="758825" cy="575310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6DF898A5-66F7-194F-BA33-BD4B4CD25B0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346910" y="1825625"/>
            <a:ext cx="118511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pic>
        <p:nvPicPr>
          <p:cNvPr id="14" name="Рисунок 13" descr="Изображение выглядит как кот, игрушка, млекопитающее, медвед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899E7D-7C11-C932-5DDB-1DD2BE357C4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2036" t="25164" r="9064" b="26332"/>
          <a:stretch>
            <a:fillRect/>
          </a:stretch>
        </p:blipFill>
        <p:spPr>
          <a:xfrm>
            <a:off x="-35226" y="3900237"/>
            <a:ext cx="5324198" cy="2956811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зарисовка, рисунок, графическая вставк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3F41F9-5C33-EFA0-AFD5-B3BD0EC948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0" y="3531519"/>
            <a:ext cx="4572000" cy="3324225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Порода собаки, млекопитающее, домашнее животное, соба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8F26A2-998A-6FDA-6EA8-39EBF7584FA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454" t="30893" r="-5195" b="41569"/>
          <a:stretch>
            <a:fillRect/>
          </a:stretch>
        </p:blipFill>
        <p:spPr>
          <a:xfrm>
            <a:off x="8076795" y="5043236"/>
            <a:ext cx="2675840" cy="13270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Рисунок 20" descr="Изображение выглядит как стена, человек, в помещении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27FBE0-3A8B-BA6E-FC8E-FE1CA9C1DE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84" y="41860"/>
            <a:ext cx="2960271" cy="206191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екст, снимок экрана, плака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2CBACE-A7E0-6126-6107-93BCC8C6FE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7235" y="39603"/>
            <a:ext cx="3180347" cy="2066425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мех, Мелкие и средние кошки, млекопитающее, Кошачь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5FECF3-312F-82FD-12CB-6434906887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42948" y="1614235"/>
            <a:ext cx="2326105" cy="1594186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B2F457-7824-7DF3-8807-9DD16F54FE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77326" y="4002004"/>
            <a:ext cx="2318085" cy="178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7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A4A1B-D855-DC75-8D89-28C96EF3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D93EB97-3852-4AFA-38DD-EF1EA707759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342900" y="1825625"/>
            <a:ext cx="4953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E4E7211A-408A-7133-4DFE-4CD3C35E5ADA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E4E7211A-408A-7133-4DFE-4CD3C35E5A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A3E3DFBE-B04C-E4CD-2B01-4C8BA725C9E5}"/>
                  </a:ext>
                </a:extLst>
              </p14:cNvPr>
              <p14:cNvContentPartPr/>
              <p14:nvPr/>
            </p14:nvContentPartPr>
            <p14:xfrm flipV="1">
              <a:off x="71120" y="3048000"/>
              <a:ext cx="9712960" cy="13208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A3E3DFBE-B04C-E4CD-2B01-4C8BA725C9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flipV="1">
                <a:off x="-1699696880" y="-20066000"/>
                <a:ext cx="2147483647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6A3DB463-0C38-9405-CC2C-AB0BFD728024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6A3DB463-0C38-9405-CC2C-AB0BFD7280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02C495C2-F346-7381-2F19-90FD30C467E9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02C495C2-F346-7381-2F19-90FD30C467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FE9D9AE8-2A46-2293-C1FC-B49658F7EF5A}"/>
                  </a:ext>
                </a:extLst>
              </p14:cNvPr>
              <p14:cNvContentPartPr/>
              <p14:nvPr/>
            </p14:nvContentPartPr>
            <p14:xfrm flipH="1">
              <a:off x="7393784" y="715929"/>
              <a:ext cx="974549" cy="901315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FE9D9AE8-2A46-2293-C1FC-B49658F7EF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flipH="1">
                <a:off x="7330642" y="652963"/>
                <a:ext cx="1100472" cy="102688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306F82-9CCE-0489-9066-ED65A3EE8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797" y="464086"/>
            <a:ext cx="6548825" cy="90003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highlight>
                  <a:srgbClr val="F3C230"/>
                </a:highlight>
                <a:ea typeface="+mj-lt"/>
                <a:cs typeface="+mj-lt"/>
              </a:rPr>
              <a:t>Современность: Все и всегда онлайн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0D19F-E421-A174-9414-DBA6602F5980}"/>
              </a:ext>
            </a:extLst>
          </p:cNvPr>
          <p:cNvSpPr txBox="1"/>
          <p:nvPr/>
        </p:nvSpPr>
        <p:spPr>
          <a:xfrm>
            <a:off x="4933292" y="1935257"/>
            <a:ext cx="710866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222222"/>
                </a:solidFill>
                <a:ea typeface="+mn-lt"/>
                <a:cs typeface="+mn-lt"/>
              </a:rPr>
              <a:t>2010-е (4G):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Высокоскоростной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мобильный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интернет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Смартфоны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соцсети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видео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стриминг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в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любой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точке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ru-RU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Стирание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границ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: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телефония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ТВ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интернет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слились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в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единый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поток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данных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20" name="Рисунок 19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BF8B9D55-CDB0-C716-21F9-471D4DF164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933314" y="3050583"/>
            <a:ext cx="1000360" cy="57531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7EA041-F947-3BC8-215B-070779A9D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48000"/>
          </a:blip>
          <a:stretch>
            <a:fillRect/>
          </a:stretch>
        </p:blipFill>
        <p:spPr>
          <a:xfrm flipH="1">
            <a:off x="4110384" y="326040"/>
            <a:ext cx="1057275" cy="1284481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мультфильм, снимок экрана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196BAD-8711-54E3-564E-63065FC2A8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8142" y="4359693"/>
            <a:ext cx="2989848" cy="2500062"/>
          </a:xfrm>
          <a:prstGeom prst="rect">
            <a:avLst/>
          </a:prstGeom>
        </p:spPr>
      </p:pic>
      <p:pic>
        <p:nvPicPr>
          <p:cNvPr id="7" name="Рисунок 6" descr="Изображение выглядит как Человеческое лицо, человек, Лоб, Подбород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402BDC-C1C9-C4A8-302C-44C5F9A7A3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9505" y="965785"/>
            <a:ext cx="1229228" cy="1086352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одежда, мультфильм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6C6DCD-A5BB-844C-3C13-5D936AC33288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58000"/>
          </a:blip>
          <a:srcRect t="45454" r="-360" b="-194"/>
          <a:stretch>
            <a:fillRect/>
          </a:stretch>
        </p:blipFill>
        <p:spPr>
          <a:xfrm>
            <a:off x="3051201" y="290763"/>
            <a:ext cx="1146678" cy="1287583"/>
          </a:xfrm>
          <a:prstGeom prst="rect">
            <a:avLst/>
          </a:prstGeom>
        </p:spPr>
      </p:pic>
      <p:pic>
        <p:nvPicPr>
          <p:cNvPr id="10" name="Рисунок 9" descr="Изображение выглядит как на открытом воздухе, снимок экрана, небо, зерка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9B595E-F89E-7199-32DA-E48132DDD04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55820" y="4451935"/>
            <a:ext cx="3476123" cy="1553579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екст, компьютер, Мелкие и средние кошки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E81F4A-1D6E-9D27-3959-FC4D9341DC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3549315"/>
            <a:ext cx="3308685" cy="3308685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в помещении, компьютер, Мелкие и средние кошки, ноутбу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71E72E-2781-1188-252F-B53CC064C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85737" y="1935079"/>
            <a:ext cx="2576764" cy="2576764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мультфильм, эмотик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01DEB0-92F5-7641-2162-8B1E342759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78531" y="4361447"/>
            <a:ext cx="1856070" cy="2406316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кот, Кошачьи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94180F-E42A-1F67-5DE9-ED565BB8F8E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7259" y="6001001"/>
            <a:ext cx="3853614" cy="861761"/>
          </a:xfrm>
          <a:prstGeom prst="rect">
            <a:avLst/>
          </a:prstGeom>
        </p:spPr>
      </p:pic>
      <p:sp>
        <p:nvSpPr>
          <p:cNvPr id="27" name="Пузырек для мыслей: облако 26">
            <a:extLst>
              <a:ext uri="{FF2B5EF4-FFF2-40B4-BE49-F238E27FC236}">
                <a16:creationId xmlns:a16="http://schemas.microsoft.com/office/drawing/2014/main" id="{BBD56CF2-940B-1B93-3530-D4849DB682DF}"/>
              </a:ext>
            </a:extLst>
          </p:cNvPr>
          <p:cNvSpPr/>
          <p:nvPr/>
        </p:nvSpPr>
        <p:spPr>
          <a:xfrm flipH="1">
            <a:off x="-60158" y="1513973"/>
            <a:ext cx="2787315" cy="2426370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Изображение выглядит как млекопитающее, в помещении, Мелкие и средние кошки, Кошачь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209B8B-A5CC-1838-A913-15574144816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2876" y="1646823"/>
            <a:ext cx="2381250" cy="18097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Рисунок 27" descr="Изображение выглядит как Шрифт, Графика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F7E96E-EDE9-C368-378E-E2CC464E408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6829" y="120315"/>
            <a:ext cx="2185737" cy="1042738"/>
          </a:xfrm>
          <a:prstGeom prst="rect">
            <a:avLst/>
          </a:prstGeom>
        </p:spPr>
      </p:pic>
      <p:pic>
        <p:nvPicPr>
          <p:cNvPr id="29" name="Рисунок 28" descr="Изображение выглядит как трава, млекопитающее, кот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4127B5-9CE0-15BB-6906-18DDB5E6BD6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46158" y="4201026"/>
            <a:ext cx="1644316" cy="165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08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5D97-060B-CA57-B7A3-E05123ED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Изображение выглядит как снимок экрана, дисплей, текс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BB0708-D59B-A332-CE70-53A271637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" y="2006"/>
            <a:ext cx="12183979" cy="6924173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зарисовка, рисунок, Штриховая график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08D10C-660C-3019-0F06-7AD2E4592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58" t="-88" r="-138" b="-107"/>
          <a:stretch>
            <a:fillRect/>
          </a:stretch>
        </p:blipFill>
        <p:spPr>
          <a:xfrm>
            <a:off x="8134818" y="2426368"/>
            <a:ext cx="3661029" cy="2968798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зарисовка, рисунок, Штриховая график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C8ADC6-2122-27EE-4FEA-EDD5EDAEFB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5" r="64065" b="-144"/>
          <a:stretch>
            <a:fillRect/>
          </a:stretch>
        </p:blipFill>
        <p:spPr>
          <a:xfrm>
            <a:off x="1153027" y="2697078"/>
            <a:ext cx="1457426" cy="26123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46D5EC9-94A6-4000-AAE9-0703454167FB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46D5EC9-94A6-4000-AAE9-0703454167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96AFFCC8-4EBA-B3D3-529E-7F5467FB03C8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96AFFCC8-4EBA-B3D3-529E-7F5467FB03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55800BF9-5E6A-BA41-11AB-CFD3B924F097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55800BF9-5E6A-BA41-11AB-CFD3B924F0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5CAA6048-30E4-A35E-A83C-10FB140AD908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5CAA6048-30E4-A35E-A83C-10FB140AD9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7657F1DF-11AC-3BAC-18EA-12DE8E33180B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7657F1DF-11AC-3BAC-18EA-12DE8E33180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A9E5B-256B-177A-2988-EC04FDA7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782" y="873082"/>
            <a:ext cx="7121236" cy="90003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00000"/>
                </a:solidFill>
                <a:highlight>
                  <a:srgbClr val="F3C230"/>
                </a:highlight>
                <a:ea typeface="+mj-lt"/>
                <a:cs typeface="+mj-lt"/>
              </a:rPr>
              <a:t>Будущее: 5G и новые горизонты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E3E4D-6DAF-AE49-FEFE-72F877A452EC}"/>
              </a:ext>
            </a:extLst>
          </p:cNvPr>
          <p:cNvSpPr txBox="1"/>
          <p:nvPr/>
        </p:nvSpPr>
        <p:spPr>
          <a:xfrm>
            <a:off x="2456141" y="1825748"/>
            <a:ext cx="710866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Внедрение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сетей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5G.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Это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просто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скорость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а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мгновенная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реакция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сети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Новые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возможности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: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беспилотные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автомобили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удаленные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операции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"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умные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"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устройства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которые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общаются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друг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с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другом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без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участия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человека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8" name="Рисунок 17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972A7A3-5D42-9EAD-37F4-F22C6F4A1D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0057" y="1194601"/>
            <a:ext cx="758825" cy="575310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86FC9182-6F19-FB17-0693-915A72D9A52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4195" y="1825625"/>
            <a:ext cx="69382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79A55-F765-C89A-BB80-BC87B971ED03}"/>
              </a:ext>
            </a:extLst>
          </p:cNvPr>
          <p:cNvSpPr txBox="1"/>
          <p:nvPr/>
        </p:nvSpPr>
        <p:spPr>
          <a:xfrm>
            <a:off x="2456140" y="1825747"/>
            <a:ext cx="710866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Внедрение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сетей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5G.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Это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просто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скорость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а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мгновенная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реакция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сети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Новые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возможности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: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беспилотные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автомобили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удаленные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операции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"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умные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"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устройства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которые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общаются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друг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с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другом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без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участия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человека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21" name="Рисунок 20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542AA3-06BB-0B48-6138-EF465455FC41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48000"/>
          </a:blip>
          <a:stretch>
            <a:fillRect/>
          </a:stretch>
        </p:blipFill>
        <p:spPr>
          <a:xfrm flipH="1">
            <a:off x="9735147" y="947671"/>
            <a:ext cx="1057275" cy="128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FF366-1753-32C8-368D-2DB016A1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3430" y="2058458"/>
            <a:ext cx="252119" cy="1363191"/>
          </a:xfrm>
        </p:spPr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млекопитающее, кот, Мелкие и средние кошки, Кошачь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24EEC6-2E24-C85B-B1EC-54DAC965D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2" y="-3439"/>
            <a:ext cx="12280429" cy="6861762"/>
          </a:xfrm>
          <a:prstGeom prst="rect">
            <a:avLst/>
          </a:prstGeom>
        </p:spPr>
      </p:pic>
      <p:sp>
        <p:nvSpPr>
          <p:cNvPr id="5" name="Пузырек для мыслей: облако 4">
            <a:extLst>
              <a:ext uri="{FF2B5EF4-FFF2-40B4-BE49-F238E27FC236}">
                <a16:creationId xmlns:a16="http://schemas.microsoft.com/office/drawing/2014/main" id="{C36BD24D-76CA-1264-5042-084836A1D651}"/>
              </a:ext>
            </a:extLst>
          </p:cNvPr>
          <p:cNvSpPr/>
          <p:nvPr/>
        </p:nvSpPr>
        <p:spPr>
          <a:xfrm>
            <a:off x="8062148" y="809037"/>
            <a:ext cx="4054592" cy="2314222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 descr="Изображение выглядит как электроника, телефон, Электронное устройство, Телефо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2F327F-8E86-6965-3F17-E88CA56C2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842" y="1393658"/>
            <a:ext cx="2155659" cy="115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6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666974" y="365125"/>
            <a:ext cx="171226" cy="1325563"/>
          </a:xfrm>
        </p:spPr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flipH="1">
            <a:off x="666974" y="1825625"/>
            <a:ext cx="171226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4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F6C625-BCCD-2A48-2347-BF1E60FCB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flipH="1">
            <a:off x="-1902" y="5034"/>
            <a:ext cx="12195804" cy="68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46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932F0-C33E-1760-B8AC-CE8B784E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228A7D28-9025-1BA1-4BE2-F44B45C08187}"/>
                  </a:ext>
                </a:extLst>
              </p14:cNvPr>
              <p14:cNvContentPartPr/>
              <p14:nvPr/>
            </p14:nvContentPartPr>
            <p14:xfrm>
              <a:off x="6370319" y="364744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228A7D28-9025-1BA1-4BE2-F44B45C081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2319" y="1869440"/>
                <a:ext cx="3556000" cy="355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Объект 4" descr="Изображение выглядит как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61F813-0B63-59A8-81E0-685DAC878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" y="562"/>
            <a:ext cx="12191999" cy="710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950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368</Words>
  <Application>Microsoft Office PowerPoint</Application>
  <PresentationFormat>Широкоэкранный</PresentationFormat>
  <Paragraphs>49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PT Serif</vt:lpstr>
      <vt:lpstr>Roboto</vt:lpstr>
      <vt:lpstr>Тема Office</vt:lpstr>
      <vt:lpstr>История Телекоммуникационных систем</vt:lpstr>
      <vt:lpstr>Зарождение: Телеграф и телефон</vt:lpstr>
      <vt:lpstr>Беспроводная революция: Радио</vt:lpstr>
      <vt:lpstr>Автоматизация и глобализация</vt:lpstr>
      <vt:lpstr>Цифровая эра и рождение Интернета</vt:lpstr>
      <vt:lpstr>Эпоха мобильной связи</vt:lpstr>
      <vt:lpstr>Интернет для всех</vt:lpstr>
      <vt:lpstr>Современность: Все и всегда онлайн</vt:lpstr>
      <vt:lpstr>Будущее: 5G и новые горизонты</vt:lpstr>
      <vt:lpstr>Презентация PowerPoint</vt:lpstr>
      <vt:lpstr> </vt:lpstr>
      <vt:lpstr>Презентация PowerPoint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Телекоммуникационных систем</dc:title>
  <dc:creator>Винокурова Мария Алексеевна</dc:creator>
  <cp:lastModifiedBy>Винокурова Мария Алексеевна</cp:lastModifiedBy>
  <cp:revision>1771</cp:revision>
  <dcterms:created xsi:type="dcterms:W3CDTF">2024-12-22T16:27:31Z</dcterms:created>
  <dcterms:modified xsi:type="dcterms:W3CDTF">2026-02-16T07:55:02Z</dcterms:modified>
</cp:coreProperties>
</file>