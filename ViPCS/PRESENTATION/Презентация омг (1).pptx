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75" r:id="rId6"/>
    <p:sldId id="276" r:id="rId7"/>
    <p:sldId id="277" r:id="rId8"/>
    <p:sldId id="278" r:id="rId9"/>
    <p:sldId id="279" r:id="rId10"/>
    <p:sldId id="264" r:id="rId11"/>
    <p:sldId id="28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230"/>
    <a:srgbClr val="FBC72C"/>
    <a:srgbClr val="E38179"/>
    <a:srgbClr val="915855"/>
    <a:srgbClr val="DB5349"/>
    <a:srgbClr val="F7CB3F"/>
    <a:srgbClr val="543F43"/>
    <a:srgbClr val="FDCF3A"/>
    <a:srgbClr val="FEBE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E3BC2-643B-4FAD-9723-312F17A8904C}" v="1298" dt="2026-02-02T20:01:05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4.7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10504 16210 16383 0 0,'5'-4'0'0'0,"20"-3"0"0"0,7-4 0 0 0,12 0 0 0 0,17-8 0 0 0,13-6 0 0 0,14 2 0 0 0,5-5 0 0 0,-3 2 0 0 0,-7 1 0 0 0,-9 5 0 0 0,-6-5 0 0 0,-6 3 0 0 0,-9 5 0 0 0,-8 5 0 0 0,-7 5 0 0 0,0 4 0 0 0,2 2 0 0 0,0 1 0 0 0,-2 1 0 0 0,-3 0 0 0 0,2 0 0 0 0,0-1 0 0 0,-2 1 0 0 0,-2-1 0 0 0,-2 0 0 0 0,9 0 0 0 0,1 0 0 0 0,0 0 0 0 0,-3 0 0 0 0,-4 0 0 0 0,-1 0 0 0 0,2 0 0 0 0,5 0 0 0 0,0 0 0 0 0,-1 0 0 0 0,-3 0 0 0 0,2 0 0 0 0,4 0 0 0 0,0 0 0 0 0,-2 0 0 0 0,-4 0 0 0 0,2 0 0 0 0,5 0 0 0 0,-2 0 0 0 0,-1 0 0 0 0,-4 0 0 0 0,2 0 0 0 0,4 0 0 0 0,0 0 0 0 0,-3 0 0 0 0,-2 0 0 0 0,-4 0 0 0 0,-2 0 0 0 0,3 0 0 0 0,5 0 0 0 0,2 0 0 0 0,-3 0 0 0 0,-2 0 0 0 0,3 0 0 0 0,3 0 0 0 0,0 0 0 0 0,-2 0 0 0 0,-4 0 0 0 0,2 0 0 0 0,4 0 0 0 0,0 0 0 0 0,2 0 0 0 0,4 0 0 0 0,-3 0 0 0 0,-3 0 0 0 0,-4 0 0 0 0,-4 0 0 0 0,7 0 0 0 0,1 0 0 0 0,3 0 0 0 0,3 0 0 0 0,-1 0 0 0 0,-4 0 0 0 0,-5 0 0 0 0,-3 0 0 0 0,-4 0 0 0 0,3 0 0 0 0,1 0 0 0 0,-2 0 0 0 0,9 0 0 0 0,2 0 0 0 0,-2 0 0 0 0,-4 0 0 0 0,-2 0 0 0 0,-4 0 0 0 0,8 0 0 0 0,2 0 0 0 0,-2 0 0 0 0,2 0 0 0 0,4 0 0 0 0,-2 0 0 0 0,-3 0 0 0 0,-4 0 0 0 0,2 0 0 0 0,3 0 0 0 0,0 0 0 0 0,2 0 0 0 0,3 0 0 0 0,-1 0 0 0 0,-4 0 0 0 0,-5 0 0 0 0,-3 0 0 0 0,-3 0 0 0 0,3 0 0 0 0,1 0 0 0 0,-2 0 0 0 0,0 0 0 0 0,-2 0 0 0 0,-2 0 0 0 0,5 0 0 0 0,6 0 0 0 0,0 0 0 0 0,-1 0 0 0 0,-2 0 0 0 0,1 0 0 0 0,5 0 0 0 0,-1 0 0 0 0,2 0 0 0 0,4 0 0 0 0,-2 0 0 0 0,1 0 0 0 0,1 0 0 0 0,-1 0 0 0 0,-5 0 0 0 0,-4 0 0 0 0,0 0 0 0 0,4 0 0 0 0,0 0 0 0 0,-3 0 0 0 0,-4 0 0 0 0,-2 0 0 0 0,-2 0 0 0 0,8 0 0 0 0,2 0 0 0 0,4 0 0 0 0,-1 0 0 0 0,-4 0 0 0 0,-3 0 0 0 0,2 0 0 0 0,3 0 0 0 0,0 0 0 0 0,-3 0 0 0 0,-3 0 0 0 0,2 0 0 0 0,4 0 0 0 0,0 0 0 0 0,-3 0 0 0 0,-3 0 0 0 0,2 0 0 0 0,5 0 0 0 0,-2 0 0 0 0,-1 0 0 0 0,-4 0 0 0 0,-3 0 0 0 0,-2 0 0 0 0,3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32064 10599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0,'9'0'0'0'0,"8"0"0"0"0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25310 5662 16383 0 0,'0'5'0'0'0,"-10"12"0"0"0,-14 3 0 0 0,-7-2 0 0 0,-9-4 0 0 0,-8-4 0 0 0,5 1 0 0 0,-1-2 0 0 0,2-1 0 0 0,-2-3 0 0 0,-4-2 0 0 0,-3-2 0 0 0,6 5 0 0 0,6 0 0 0 0,0 0 0 0 0,-4-1 0 0 0,0-2 0 0 0,3-1 0 0 0,3-1 0 0 0,-3-1 0 0 0,1 5 0 0 0,2 2 0 0 0,2-1 0 0 0,2-1 0 0 0,1-2 0 0 0,-3 0 0 0 0,-2-2 0 0 0,1-1 0 0 0,1 0 0 0 0,2 0 0 0 0,2 0 0 0 0,-5-1 0 0 0,-6 1 0 0 0,-1 0 0 0 0,2 0 0 0 0,2 0 0 0 0,-1 0 0 0 0,-5 0 0 0 0,0 0 0 0 0,3 0 0 0 0,4 0 0 0 0,-2 0 0 0 0,-5 0 0 0 0,1 0 0 0 0,2 0 0 0 0,4 0 0 0 0,-2 0 0 0 0,-5 0 0 0 0,1 0 0 0 0,3 0 0 0 0,2 0 0 0 0,4 0 0 0 0,3 0 0 0 0,-9 0 0 0 0,-3 0 0 0 0,2 0 0 0 0,-3 0 0 0 0,-3 0 0 0 0,-9 0 0 0 0,-10 0 0 0 0,-4 0 0 0 0,-5 0 0 0 0,5 0 0 0 0,11 0 0 0 0,9 0 0 0 0,3 0 0 0 0,6 0 0 0 0,4 0 0 0 0,4 0 0 0 0,2 0 0 0 0,-8 0 0 0 0,-3 0 0 0 0,1 0 0 0 0,-7-5 0 0 0,4-7 0 0 0,5-1 0 0 0,4 1 0 0 0,-2 3 0 0 0,-4 3 0 0 0,-1-2 0 0 0,2-1 0 0 0,-1-3 0 0 0,5 1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24711 5404 16383 0 0,'0'-8'0'0'0,"0"-7"0"0"0,0-5 0 0 0,0-4 0 0 0,0-1 0 0 0,0 0 0 0 0,105-5 0 0 0,54-1 0 0 0,-14 0 0 0 0,79 2 0 0 0,1 1 0 0 0,-27 2 0 0 0,53-7 0 0 0,105 1 0 0 0,-13 3 0 0 0,-66 2 0 0 0,-79-3 0 0 0,-66-8 0 0 0,-66-3 0 0 0,-39 3 0 0 0,-27-2 0 0 0,0 3 0 0 0,-27 3 0 0 0,14 3 0 0 0,0 4 0 0 0,13 1 0 0 0,-13-3 0 0 0,13-4 0 0 0,0-2 0 0 0,0 3 0 0 0,0 1 0 0 0,0-3 0 0 0,0-1 0 0 0,0-2 0 0 0,0 3 0 0 0,0 3 0 0 0,0-2 0 0 0,0-3 0 0 0,0 0 0 0 0,0 2 0 0 0,0 4 0 0 0,0-2 0 0 0,0-5 0 0 0,0 1 0 0 0,0 2 0 0 0,0 3 0 0 0,0 3 0 0 0,0 1 0 0 0,0-2 0 0 0,0-4 0 0 0,0-2 0 0 0,0 1 0 0 0,0 3 0 0 0,0-1 0 0 0,0-5 0 0 0,0 2 0 0 0,0 0 0 0 0,0 4 0 0 0,0-2 0 0 0,0-3 0 0 0,0 0 0 0 0,0 3 0 0 0,0 1 0 0 0,0-1 0 0 0,0-2 0 0 0,0-1 0 0 0,0-2 0 0 0,0-3 0 0 0,0 2 0 0 0,0 2 0 0 0,0 5 0 0 0,0-1 0 0 0,0-3 0 0 0,0 0 0 0 0,0 2 0 0 0,0 3 0 0 0,0-1 0 0 0,0 4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28224 16672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33216 16032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32384 15744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31872 14816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5008 16383 0 0,'9'0'0'0'0,"9"0"0"0"0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32064 10599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0,'9'0'0'0'0,"9"0"0"0"0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25310 5662 16383 0 0,'0'5'0'0'0,"-10"12"0"0"0,-14 3 0 0 0,-7-2 0 0 0,-9-4 0 0 0,-8-4 0 0 0,5 1 0 0 0,-1-2 0 0 0,2-1 0 0 0,-2-3 0 0 0,-4-2 0 0 0,-3-2 0 0 0,6 5 0 0 0,6 0 0 0 0,0 0 0 0 0,-4-1 0 0 0,0-2 0 0 0,3-1 0 0 0,3-1 0 0 0,-3-1 0 0 0,1 5 0 0 0,2 2 0 0 0,2-1 0 0 0,2-1 0 0 0,1-2 0 0 0,-3 0 0 0 0,-2-2 0 0 0,1-1 0 0 0,1 0 0 0 0,2 0 0 0 0,2 0 0 0 0,-5-1 0 0 0,-6 1 0 0 0,-1 0 0 0 0,2 0 0 0 0,2 0 0 0 0,-1 0 0 0 0,-5 0 0 0 0,0 0 0 0 0,3 0 0 0 0,4 0 0 0 0,-2 0 0 0 0,-5 0 0 0 0,1 0 0 0 0,2 0 0 0 0,4 0 0 0 0,-2 0 0 0 0,-5 0 0 0 0,1 0 0 0 0,3 0 0 0 0,2 0 0 0 0,4 0 0 0 0,3 0 0 0 0,-9 0 0 0 0,-3 0 0 0 0,2 0 0 0 0,-3 0 0 0 0,-3 0 0 0 0,-9 0 0 0 0,-10 0 0 0 0,-4 0 0 0 0,-5 0 0 0 0,5 0 0 0 0,11 0 0 0 0,9 0 0 0 0,3 0 0 0 0,6 0 0 0 0,4 0 0 0 0,4 0 0 0 0,2 0 0 0 0,-8 0 0 0 0,-3 0 0 0 0,1 0 0 0 0,-7-5 0 0 0,4-7 0 0 0,5-1 0 0 0,4 1 0 0 0,-2 3 0 0 0,-4 3 0 0 0,-1-2 0 0 0,2-1 0 0 0,-1-3 0 0 0,5 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28672 16640 16383 0 0,'0'0'0'0'0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33280 15360 16383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31744 16128 16383 0 0,'0'0'0'0'0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31744 14592 16383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5120 16383 0 0,'10'0'0'0'0,"7"0"0"0"0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9.5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22528 11264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customXml" Target="../ink/ink1.xml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8" Type="http://schemas.openxmlformats.org/officeDocument/2006/relationships/image" Target="../media/image7.jpeg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12" Type="http://schemas.openxmlformats.org/officeDocument/2006/relationships/customXml" Target="../ink/ink8.xml"/><Relationship Id="rId17" Type="http://schemas.openxmlformats.org/officeDocument/2006/relationships/image" Target="../media/image16.jpeg"/><Relationship Id="rId2" Type="http://schemas.openxmlformats.org/officeDocument/2006/relationships/image" Target="../media/image15.jpe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26.png"/><Relationship Id="rId5" Type="http://schemas.openxmlformats.org/officeDocument/2006/relationships/customXml" Target="../ink/ink3.xml"/><Relationship Id="rId15" Type="http://schemas.openxmlformats.org/officeDocument/2006/relationships/customXml" Target="../ink/ink9.xml"/><Relationship Id="rId10" Type="http://schemas.openxmlformats.org/officeDocument/2006/relationships/customXml" Target="../ink/ink7.xml"/><Relationship Id="rId19" Type="http://schemas.openxmlformats.org/officeDocument/2006/relationships/image" Target="../media/image4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4.png"/><Relationship Id="rId3" Type="http://schemas.openxmlformats.org/officeDocument/2006/relationships/customXml" Target="../ink/ink10.xml"/><Relationship Id="rId7" Type="http://schemas.openxmlformats.org/officeDocument/2006/relationships/customXml" Target="../ink/ink13.xml"/><Relationship Id="rId12" Type="http://schemas.openxmlformats.org/officeDocument/2006/relationships/image" Target="../media/image19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7.jpeg"/><Relationship Id="rId5" Type="http://schemas.openxmlformats.org/officeDocument/2006/relationships/customXml" Target="../ink/ink11.xml"/><Relationship Id="rId10" Type="http://schemas.openxmlformats.org/officeDocument/2006/relationships/image" Target="../media/image18.jpeg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24.png"/><Relationship Id="rId18" Type="http://schemas.openxmlformats.org/officeDocument/2006/relationships/image" Target="../media/image4.png"/><Relationship Id="rId3" Type="http://schemas.openxmlformats.org/officeDocument/2006/relationships/customXml" Target="../ink/ink15.xml"/><Relationship Id="rId7" Type="http://schemas.openxmlformats.org/officeDocument/2006/relationships/customXml" Target="../ink/ink18.xml"/><Relationship Id="rId12" Type="http://schemas.openxmlformats.org/officeDocument/2006/relationships/customXml" Target="../ink/ink21.xml"/><Relationship Id="rId17" Type="http://schemas.openxmlformats.org/officeDocument/2006/relationships/image" Target="../media/image7.jpeg"/><Relationship Id="rId2" Type="http://schemas.openxmlformats.org/officeDocument/2006/relationships/image" Target="../media/image20.jpeg"/><Relationship Id="rId16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19.png"/><Relationship Id="rId5" Type="http://schemas.openxmlformats.org/officeDocument/2006/relationships/customXml" Target="../ink/ink16.xml"/><Relationship Id="rId15" Type="http://schemas.openxmlformats.org/officeDocument/2006/relationships/image" Target="../media/image22.jpeg"/><Relationship Id="rId10" Type="http://schemas.openxmlformats.org/officeDocument/2006/relationships/customXml" Target="../ink/ink20.xml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customXml" Target="../ink/ink26.xml"/><Relationship Id="rId12" Type="http://schemas.openxmlformats.org/officeDocument/2006/relationships/image" Target="../media/image26.jpe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25.jpeg"/><Relationship Id="rId5" Type="http://schemas.openxmlformats.org/officeDocument/2006/relationships/customXml" Target="../ink/ink24.xml"/><Relationship Id="rId10" Type="http://schemas.openxmlformats.org/officeDocument/2006/relationships/image" Target="../media/image9.jpeg"/><Relationship Id="rId4" Type="http://schemas.openxmlformats.org/officeDocument/2006/relationships/customXml" Target="../ink/ink23.xml"/><Relationship Id="rId9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 descr="Изображение выглядит как текст, Жестянка, Жестяная банка, Алюминиевая бан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FA8EF2-D794-CA10-C512-CF57C6D62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78" y="356259"/>
            <a:ext cx="3950169" cy="37110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8E6E0-48F1-6707-E044-FD6D79EE1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805" y="1201532"/>
            <a:ext cx="7471559" cy="1467263"/>
          </a:xfrm>
        </p:spPr>
        <p:txBody>
          <a:bodyPr/>
          <a:lstStyle/>
          <a:p>
            <a:r>
              <a:rPr lang="ru-RU" sz="4000" b="1" dirty="0">
                <a:highlight>
                  <a:srgbClr val="FDCF3A"/>
                </a:highlight>
                <a:latin typeface="Roboto"/>
                <a:ea typeface="Roboto"/>
                <a:cs typeface="Roboto"/>
              </a:rPr>
              <a:t> в области компьютерных сетей </a:t>
            </a:r>
            <a:endParaRPr lang="ru-RU" sz="4000" b="1">
              <a:highlight>
                <a:srgbClr val="FDCF3A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030FE5-C978-F8F3-CEF8-639D31F94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9357" y="5267148"/>
            <a:ext cx="5541818" cy="106309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Выполнила: студентка МФЮА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r>
              <a:rPr lang="ru-RU" dirty="0">
                <a:latin typeface="Calibri"/>
                <a:ea typeface="Calibri"/>
                <a:cs typeface="Calibri"/>
              </a:rPr>
              <a:t>2 курса 28ИПо8481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r>
              <a:rPr lang="ru-RU" dirty="0">
                <a:latin typeface="Calibri"/>
                <a:ea typeface="Calibri"/>
                <a:cs typeface="Calibri"/>
              </a:rPr>
              <a:t>Винокурова М.А.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endParaRPr lang="ru-RU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Рисунок 7" descr="Изображение выглядит как графическая вставка, смайлик, эмотикон, желтый&#10;&#10;Автоматически созданное описание">
            <a:extLst>
              <a:ext uri="{FF2B5EF4-FFF2-40B4-BE49-F238E27FC236}">
                <a16:creationId xmlns:a16="http://schemas.microsoft.com/office/drawing/2014/main" id="{A7BEE195-EDF8-8AFE-897E-1648C51D9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346" y="2911978"/>
            <a:ext cx="2247900" cy="14677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D17CBBF3-4926-B71B-5BC5-D60C08B2E359}"/>
                  </a:ext>
                </a:extLst>
              </p14:cNvPr>
              <p14:cNvContentPartPr/>
              <p14:nvPr/>
            </p14:nvContentPartPr>
            <p14:xfrm>
              <a:off x="1838960" y="5454230"/>
              <a:ext cx="2401638" cy="103289"/>
            </p14:xfrm>
          </p:contentPart>
        </mc:Choice>
        <mc:Fallback xmlns=""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D17CBBF3-4926-B71B-5BC5-D60C08B2E3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76327" y="5391826"/>
                <a:ext cx="2527263" cy="228455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Рисунок 1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A6EF70E2-132E-28C6-223F-18E62416A2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8111" y="4878705"/>
            <a:ext cx="758825" cy="575310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земля, обувь, млекопитающе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290FB2-988C-18CA-00C6-6EFB145E60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161642"/>
            <a:ext cx="6740071" cy="1696358"/>
          </a:xfrm>
          <a:prstGeom prst="rect">
            <a:avLst/>
          </a:prstGeom>
        </p:spPr>
      </p:pic>
      <p:pic>
        <p:nvPicPr>
          <p:cNvPr id="5" name="Рисунок 4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7299D473-E713-D03A-78D4-97EB35F3BC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49" y="4697276"/>
            <a:ext cx="758825" cy="575310"/>
          </a:xfrm>
          <a:prstGeom prst="rect">
            <a:avLst/>
          </a:prstGeom>
        </p:spPr>
      </p:pic>
      <p:pic>
        <p:nvPicPr>
          <p:cNvPr id="6" name="Рисунок 5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06FBED00-2EB2-301B-776B-091E07006D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6077" y="4697276"/>
            <a:ext cx="758825" cy="575310"/>
          </a:xfrm>
          <a:prstGeom prst="rect">
            <a:avLst/>
          </a:prstGeom>
        </p:spPr>
      </p:pic>
      <p:pic>
        <p:nvPicPr>
          <p:cNvPr id="7" name="Рисунок 6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19A742C4-2B1B-94F0-5DA2-2181034D31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7435" y="4697276"/>
            <a:ext cx="758825" cy="575310"/>
          </a:xfrm>
          <a:prstGeom prst="rect">
            <a:avLst/>
          </a:prstGeom>
        </p:spPr>
      </p:pic>
      <p:pic>
        <p:nvPicPr>
          <p:cNvPr id="9" name="Рисунок 8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3A204D83-BBAF-5B7B-6F4A-156137E203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435" y="4697276"/>
            <a:ext cx="758825" cy="57531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FBFB73B2-A3DB-7C61-AD88-A3769C2E1E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507" y="4697277"/>
            <a:ext cx="758825" cy="57531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E49E6BC-51A2-2A65-E75C-D024C51FC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364" y="4697276"/>
            <a:ext cx="758825" cy="57531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22894EF9-FAAB-875B-D903-6D1ECDCB85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579" y="4697275"/>
            <a:ext cx="758825" cy="57531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7D632F28-6EEE-453B-DB92-15BDE3CEB3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221" y="4697276"/>
            <a:ext cx="758825" cy="575310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7F217B1-90B3-9AE1-0940-91A6E7556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935" y="4697276"/>
            <a:ext cx="758825" cy="57531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AAAD39AF-0420-C7ED-164A-CE044D65FC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8792" y="4697276"/>
            <a:ext cx="758825" cy="575310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D4ABEE7E-F56A-BAE1-5E4E-BA41C305A1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286" y="1223743"/>
            <a:ext cx="758825" cy="575310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FABA64AC-6944-D082-2707-7362C653DA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0592" y="352886"/>
            <a:ext cx="758825" cy="575310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9D3E61D3-40A6-EA8E-60FA-3A7753AA6B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0579" y="4697276"/>
            <a:ext cx="758825" cy="575310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человек, на открытом воздухе, пить, земл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2FFF28-03B3-9B38-43A3-CBE42BC819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6787" y="644071"/>
            <a:ext cx="1300082" cy="3347358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438A9F7C-E6FA-EEC0-4355-A5EFEF9785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3164" y="2628167"/>
            <a:ext cx="758825" cy="57531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7A12D0E-C46B-BC96-43A4-B0B9C414E9BD}"/>
              </a:ext>
            </a:extLst>
          </p:cNvPr>
          <p:cNvSpPr txBox="1"/>
          <p:nvPr/>
        </p:nvSpPr>
        <p:spPr>
          <a:xfrm>
            <a:off x="2592779" y="2721428"/>
            <a:ext cx="259279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000" dirty="0">
                <a:solidFill>
                  <a:schemeClr val="bg1"/>
                </a:solidFill>
              </a:rPr>
              <a:t>ы</a:t>
            </a:r>
          </a:p>
        </p:txBody>
      </p:sp>
      <p:pic>
        <p:nvPicPr>
          <p:cNvPr id="20" name="Рисунок 19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2422277C-A3C5-DB76-846D-CAF1E5223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6767" y="183828"/>
            <a:ext cx="758825" cy="575310"/>
          </a:xfrm>
          <a:prstGeom prst="rect">
            <a:avLst/>
          </a:prstGeom>
        </p:spPr>
      </p:pic>
      <p:pic>
        <p:nvPicPr>
          <p:cNvPr id="29" name="Рисунок 28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62E4DF-54B5-45ED-165C-75F62434A9F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48000"/>
          </a:blip>
          <a:stretch>
            <a:fillRect/>
          </a:stretch>
        </p:blipFill>
        <p:spPr>
          <a:xfrm flipH="1">
            <a:off x="4247783" y="3000961"/>
            <a:ext cx="3462600" cy="169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3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кот, в помещении, Электрическая проводка, Электронная техн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3C0146-F1C7-0A32-9BA1-8DC2D5948F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31" b="13210"/>
          <a:stretch>
            <a:fillRect/>
          </a:stretch>
        </p:blipFill>
        <p:spPr>
          <a:xfrm>
            <a:off x="3531368" y="10"/>
            <a:ext cx="8937721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0A69E-E60C-D109-795F-2EF1F168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ru-RU" sz="4000" b="1" dirty="0">
                <a:highlight>
                  <a:srgbClr val="F3C230"/>
                </a:highlight>
                <a:latin typeface="Arial"/>
                <a:ea typeface="Calibri"/>
                <a:cs typeface="Arial"/>
              </a:rPr>
              <a:t>Зачем нужны ГОСТы в IT ?</a:t>
            </a:r>
            <a:endParaRPr lang="ru-RU" sz="4000" b="1" dirty="0">
              <a:highlight>
                <a:srgbClr val="F3C230"/>
              </a:highlight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F2A5F4-0478-E185-1A6D-2AE15E034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5249571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ea typeface="+mn-lt"/>
                <a:cs typeface="+mn-lt"/>
              </a:rPr>
              <a:t>ГОСТы (государственные стандарты) нужны в сфере информационных технологий (IT) для стандартизации процессов, продуктов и документации. Они устанавливают унифицированные правила и характеристики, которые помогают упорядочить деятельность в этой области.</a:t>
            </a:r>
          </a:p>
        </p:txBody>
      </p:sp>
      <p:sp>
        <p:nvSpPr>
          <p:cNvPr id="8" name="Пузырек для мыслей: облако 7">
            <a:extLst>
              <a:ext uri="{FF2B5EF4-FFF2-40B4-BE49-F238E27FC236}">
                <a16:creationId xmlns:a16="http://schemas.microsoft.com/office/drawing/2014/main" id="{CA043C42-4D16-D37F-C478-7CDA642C668B}"/>
              </a:ext>
            </a:extLst>
          </p:cNvPr>
          <p:cNvSpPr/>
          <p:nvPr/>
        </p:nvSpPr>
        <p:spPr>
          <a:xfrm>
            <a:off x="8500752" y="-1"/>
            <a:ext cx="3364675" cy="2028701"/>
          </a:xfrm>
          <a:prstGeom prst="cloud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в помещении, компьютер, компьютерный монитор, сте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B5DC5A-3C6A-43A9-6754-AF36D82429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2000"/>
          </a:blip>
          <a:stretch>
            <a:fillRect/>
          </a:stretch>
        </p:blipFill>
        <p:spPr>
          <a:xfrm>
            <a:off x="8857013" y="189879"/>
            <a:ext cx="2434442" cy="15202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Пузырек для мыслей: облако 8">
            <a:extLst>
              <a:ext uri="{FF2B5EF4-FFF2-40B4-BE49-F238E27FC236}">
                <a16:creationId xmlns:a16="http://schemas.microsoft.com/office/drawing/2014/main" id="{9E0206CA-EE07-DA22-CB5C-DC5A4CA5E4C6}"/>
              </a:ext>
            </a:extLst>
          </p:cNvPr>
          <p:cNvSpPr/>
          <p:nvPr/>
        </p:nvSpPr>
        <p:spPr>
          <a:xfrm>
            <a:off x="7718960" y="3839689"/>
            <a:ext cx="2464129" cy="1484415"/>
          </a:xfrm>
          <a:prstGeom prst="cloud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пожар, камин, жара, плам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7534AF-E074-1DD9-DD79-DA96E26F692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7905008" y="3970934"/>
            <a:ext cx="2092037" cy="1212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Рисунок 13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560918-D896-89A2-62F0-EEEC19375CC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8000"/>
          </a:blip>
          <a:stretch>
            <a:fillRect/>
          </a:stretch>
        </p:blipFill>
        <p:spPr>
          <a:xfrm>
            <a:off x="5718" y="6265332"/>
            <a:ext cx="469695" cy="592668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2DD4F03F-86E8-6402-2C66-40E156AAFA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47" y="381108"/>
            <a:ext cx="758825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7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Изображение выглядит как на открытом воздухе, дерево, мебель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1B6DA9-A682-9867-42E7-D3FF2C489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303" y="-197550"/>
            <a:ext cx="6184198" cy="7352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Рисунок 10" descr="Изображение выглядит как мультфильм, графическая вставка, эмотикон, смайл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CF7BCB-E3DB-A79B-F4B0-F470622C03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9247907" y="4651168"/>
            <a:ext cx="2949040" cy="17120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346DA2E-2D51-B9C3-0FE4-F4958A62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B5C30-9623-0A81-D360-E791D141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81" y="107826"/>
            <a:ext cx="5973289" cy="1355251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Некоторые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цели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стандартизации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 в IT с </a:t>
            </a:r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помощью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ГОСТов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:</a:t>
            </a:r>
            <a:endParaRPr lang="en-US" b="1">
              <a:highlight>
                <a:srgbClr val="FBC72C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0E35B-CE4D-DE35-CC90-8DB66EE5B59A}"/>
              </a:ext>
            </a:extLst>
          </p:cNvPr>
          <p:cNvSpPr txBox="1"/>
          <p:nvPr/>
        </p:nvSpPr>
        <p:spPr>
          <a:xfrm>
            <a:off x="138056" y="1509767"/>
            <a:ext cx="5967350" cy="313932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 err="1">
                <a:latin typeface="Roboto"/>
                <a:ea typeface="+mn-lt"/>
                <a:cs typeface="+mn-lt"/>
              </a:rPr>
              <a:t>обеспечение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совместимости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устройств</a:t>
            </a:r>
            <a:r>
              <a:rPr lang="en-US" dirty="0">
                <a:latin typeface="Roboto"/>
                <a:ea typeface="+mn-lt"/>
                <a:cs typeface="+mn-lt"/>
              </a:rPr>
              <a:t> и </a:t>
            </a:r>
            <a:r>
              <a:rPr lang="en-US" dirty="0" err="1">
                <a:latin typeface="Roboto"/>
                <a:ea typeface="+mn-lt"/>
                <a:cs typeface="+mn-lt"/>
              </a:rPr>
              <a:t>систем</a:t>
            </a:r>
            <a:r>
              <a:rPr lang="en-US" dirty="0">
                <a:latin typeface="Roboto"/>
                <a:ea typeface="+mn-lt"/>
                <a:cs typeface="+mn-lt"/>
              </a:rPr>
              <a:t>.</a:t>
            </a:r>
            <a:endParaRPr lang="en-US" dirty="0">
              <a:latin typeface="Roboto"/>
              <a:ea typeface="YS Text"/>
              <a:cs typeface="YS Text"/>
            </a:endParaRPr>
          </a:p>
          <a:p>
            <a:pPr>
              <a:buFont typeface="Calibri"/>
              <a:buChar char="-"/>
            </a:pPr>
            <a:endParaRPr lang="en-US" dirty="0">
              <a:latin typeface="Roboto"/>
              <a:ea typeface="+mn-lt"/>
              <a:cs typeface="+mn-lt"/>
            </a:endParaRPr>
          </a:p>
          <a:p>
            <a:pPr>
              <a:buFont typeface="Calibri"/>
              <a:buChar char="-"/>
            </a:pPr>
            <a:r>
              <a:rPr lang="en-US" dirty="0">
                <a:latin typeface="Roboto"/>
                <a:ea typeface="+mn-lt"/>
                <a:cs typeface="+mn-lt"/>
              </a:rPr>
              <a:t>   </a:t>
            </a:r>
            <a:r>
              <a:rPr lang="en-US" dirty="0" err="1">
                <a:latin typeface="Roboto"/>
                <a:ea typeface="+mn-lt"/>
                <a:cs typeface="+mn-lt"/>
              </a:rPr>
              <a:t>защита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данных</a:t>
            </a:r>
            <a:r>
              <a:rPr lang="en-US" dirty="0">
                <a:latin typeface="Roboto"/>
                <a:ea typeface="+mn-lt"/>
                <a:cs typeface="+mn-lt"/>
              </a:rPr>
              <a:t> и </a:t>
            </a:r>
            <a:r>
              <a:rPr lang="en-US" dirty="0" err="1">
                <a:latin typeface="Roboto"/>
                <a:ea typeface="+mn-lt"/>
                <a:cs typeface="+mn-lt"/>
              </a:rPr>
              <a:t>систем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от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угроз</a:t>
            </a:r>
            <a:r>
              <a:rPr lang="en-US" dirty="0">
                <a:latin typeface="Roboto"/>
                <a:ea typeface="+mn-lt"/>
                <a:cs typeface="+mn-lt"/>
              </a:rPr>
              <a:t>.</a:t>
            </a:r>
            <a:endParaRPr lang="en-US" dirty="0">
              <a:latin typeface="Roboto"/>
              <a:ea typeface="Roboto"/>
              <a:cs typeface="Roboto"/>
            </a:endParaRPr>
          </a:p>
          <a:p>
            <a:pPr>
              <a:buFont typeface="Calibri"/>
              <a:buChar char="-"/>
            </a:pPr>
            <a:endParaRPr lang="en-US" dirty="0">
              <a:latin typeface="Roboto"/>
              <a:ea typeface="+mn-lt"/>
              <a:cs typeface="+mn-lt"/>
            </a:endParaRPr>
          </a:p>
          <a:p>
            <a:pPr>
              <a:buFont typeface="Calibri"/>
              <a:buChar char="-"/>
            </a:pPr>
            <a:r>
              <a:rPr lang="en-US" dirty="0">
                <a:latin typeface="Roboto"/>
                <a:ea typeface="+mn-lt"/>
                <a:cs typeface="+mn-lt"/>
              </a:rPr>
              <a:t>   </a:t>
            </a:r>
            <a:r>
              <a:rPr lang="en-US" dirty="0" err="1">
                <a:latin typeface="Roboto"/>
                <a:ea typeface="+mn-lt"/>
                <a:cs typeface="+mn-lt"/>
              </a:rPr>
              <a:t>повышение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качества</a:t>
            </a:r>
            <a:r>
              <a:rPr lang="en-US" dirty="0">
                <a:latin typeface="Roboto"/>
                <a:ea typeface="+mn-lt"/>
                <a:cs typeface="+mn-lt"/>
              </a:rPr>
              <a:t> ИТ‑</a:t>
            </a:r>
            <a:r>
              <a:rPr lang="en-US" dirty="0" err="1">
                <a:latin typeface="Roboto"/>
                <a:ea typeface="+mn-lt"/>
                <a:cs typeface="+mn-lt"/>
              </a:rPr>
              <a:t>решений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на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всех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этапах</a:t>
            </a:r>
            <a:r>
              <a:rPr lang="en-US" dirty="0">
                <a:latin typeface="Roboto"/>
                <a:ea typeface="+mn-lt"/>
                <a:cs typeface="+mn-lt"/>
              </a:rPr>
              <a:t>.</a:t>
            </a:r>
            <a:endParaRPr lang="en-US" dirty="0">
              <a:latin typeface="Roboto"/>
              <a:ea typeface="Roboto"/>
              <a:cs typeface="Roboto"/>
            </a:endParaRPr>
          </a:p>
          <a:p>
            <a:pPr>
              <a:buFont typeface="Calibri"/>
              <a:buChar char="-"/>
            </a:pPr>
            <a:endParaRPr lang="en-US" dirty="0">
              <a:latin typeface="Roboto"/>
              <a:ea typeface="+mn-lt"/>
              <a:cs typeface="+mn-lt"/>
            </a:endParaRPr>
          </a:p>
          <a:p>
            <a:pPr>
              <a:buFont typeface="Calibri"/>
              <a:buChar char="-"/>
            </a:pPr>
            <a:r>
              <a:rPr lang="en-US" dirty="0">
                <a:latin typeface="Roboto"/>
                <a:ea typeface="Roboto"/>
                <a:cs typeface="Roboto"/>
              </a:rPr>
              <a:t>   </a:t>
            </a:r>
            <a:r>
              <a:rPr lang="en-US" dirty="0" err="1">
                <a:latin typeface="Roboto"/>
                <a:ea typeface="Roboto"/>
                <a:cs typeface="Roboto"/>
              </a:rPr>
              <a:t>поддержка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  <a:r>
              <a:rPr lang="en-US" dirty="0" err="1">
                <a:latin typeface="Roboto"/>
                <a:ea typeface="Roboto"/>
                <a:cs typeface="Roboto"/>
              </a:rPr>
              <a:t>масштабируемости</a:t>
            </a:r>
            <a:r>
              <a:rPr lang="en-US" dirty="0">
                <a:latin typeface="Roboto"/>
                <a:ea typeface="Roboto"/>
                <a:cs typeface="Roboto"/>
              </a:rPr>
              <a:t> и </a:t>
            </a:r>
            <a:r>
              <a:rPr lang="en-US" dirty="0" err="1">
                <a:latin typeface="Roboto"/>
                <a:ea typeface="Roboto"/>
                <a:cs typeface="Roboto"/>
              </a:rPr>
              <a:t>расширения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</a:p>
          <a:p>
            <a:r>
              <a:rPr lang="en-US" dirty="0">
                <a:latin typeface="Roboto"/>
                <a:ea typeface="Roboto"/>
                <a:cs typeface="Roboto"/>
              </a:rPr>
              <a:t>    </a:t>
            </a:r>
            <a:r>
              <a:rPr lang="en-US" dirty="0" err="1">
                <a:latin typeface="Roboto"/>
                <a:ea typeface="Roboto"/>
                <a:cs typeface="Roboto"/>
              </a:rPr>
              <a:t>функционала</a:t>
            </a:r>
            <a:r>
              <a:rPr lang="en-US" dirty="0">
                <a:latin typeface="Roboto"/>
                <a:ea typeface="Roboto"/>
                <a:cs typeface="Roboto"/>
              </a:rPr>
              <a:t>.</a:t>
            </a:r>
            <a:endParaRPr lang="en-US" dirty="0"/>
          </a:p>
          <a:p>
            <a:pPr>
              <a:buFont typeface="Calibri"/>
              <a:buChar char="-"/>
            </a:pPr>
            <a:endParaRPr lang="en-US" dirty="0">
              <a:latin typeface="Roboto"/>
              <a:ea typeface="Roboto"/>
              <a:cs typeface="Roboto"/>
            </a:endParaRPr>
          </a:p>
          <a:p>
            <a:pPr>
              <a:buFont typeface="Calibri"/>
              <a:buChar char="-"/>
            </a:pPr>
            <a:r>
              <a:rPr lang="en-US" dirty="0">
                <a:latin typeface="Roboto"/>
                <a:ea typeface="Roboto"/>
                <a:cs typeface="Roboto"/>
              </a:rPr>
              <a:t>   </a:t>
            </a:r>
            <a:r>
              <a:rPr lang="en-US" dirty="0" err="1">
                <a:latin typeface="Roboto"/>
                <a:ea typeface="Roboto"/>
                <a:cs typeface="Roboto"/>
              </a:rPr>
              <a:t>обеспечение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  <a:r>
              <a:rPr lang="en-US" dirty="0" err="1">
                <a:latin typeface="Roboto"/>
                <a:ea typeface="Roboto"/>
                <a:cs typeface="Roboto"/>
              </a:rPr>
              <a:t>переносимости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  <a:r>
              <a:rPr lang="en-US" dirty="0" err="1">
                <a:latin typeface="Roboto"/>
                <a:ea typeface="Roboto"/>
                <a:cs typeface="Roboto"/>
              </a:rPr>
              <a:t>между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  <a:r>
              <a:rPr lang="en-US" dirty="0" err="1">
                <a:latin typeface="Roboto"/>
                <a:ea typeface="Roboto"/>
                <a:cs typeface="Roboto"/>
              </a:rPr>
              <a:t>платформами</a:t>
            </a:r>
            <a:r>
              <a:rPr lang="en-US" dirty="0">
                <a:latin typeface="Roboto"/>
                <a:ea typeface="Roboto"/>
                <a:cs typeface="Roboto"/>
              </a:rPr>
              <a:t>.</a:t>
            </a:r>
            <a:endParaRPr lang="ru-RU" dirty="0">
              <a:latin typeface="Roboto"/>
              <a:ea typeface="Roboto"/>
              <a:cs typeface="Roboto"/>
            </a:endParaRPr>
          </a:p>
          <a:p>
            <a:endParaRPr lang="en-US" dirty="0">
              <a:latin typeface="Roboto"/>
              <a:ea typeface="Roboto"/>
              <a:cs typeface="Roboto"/>
            </a:endParaRPr>
          </a:p>
        </p:txBody>
      </p:sp>
      <p:pic>
        <p:nvPicPr>
          <p:cNvPr id="13" name="Рисунок 12" descr="Изображение выглядит как текст, млекопитающее, кот, Вибрис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227417-5313-AC46-1578-3F8531B52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495" y="2226623"/>
            <a:ext cx="999507" cy="25432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Рисунок 19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43940C-EF83-131E-EFF1-35788B484B9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1000"/>
          </a:blip>
          <a:stretch>
            <a:fillRect/>
          </a:stretch>
        </p:blipFill>
        <p:spPr>
          <a:xfrm>
            <a:off x="-4365" y="4374444"/>
            <a:ext cx="6311693" cy="2634075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03613D37-7478-651C-F5F2-B57EAB027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389406" y="2149701"/>
            <a:ext cx="849841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стена, текст, пол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D4DD60-812F-05D6-A043-BE85A3BF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63"/>
          <a:stretch>
            <a:fillRect/>
          </a:stretch>
        </p:blipFill>
        <p:spPr>
          <a:xfrm>
            <a:off x="2698775" y="10"/>
            <a:ext cx="10431642" cy="6857990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735D2-D109-489E-9FCB-EA9FC69ED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80" y="2176902"/>
            <a:ext cx="4277409" cy="33469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400" b="1" dirty="0">
                <a:ea typeface="+mn-lt"/>
                <a:cs typeface="+mn-lt"/>
              </a:rPr>
              <a:t>Тема компьютерных сетей регулируется рядом ГОСТов, охватывающих терминологию, архитектуру, безопасность и качество. 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(На следующем слайде  представлены ключевые стандарты в этой области.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 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)</a:t>
            </a:r>
            <a:endParaRPr lang="ru-RU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291B3-0712-EC0B-6120-91F7D8513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6839" y="2769878"/>
            <a:ext cx="184068" cy="1325563"/>
          </a:xfrm>
        </p:spPr>
        <p:txBody>
          <a:bodyPr>
            <a:noAutofit/>
          </a:bodyPr>
          <a:lstStyle/>
          <a:p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172660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1351-3699-41DA-6A45-9B52FA4B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Изображение выглядит как текст, Шрифт, логотип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B5FC7FA-30F5-534A-2A00-B07C775F6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491" y="5454003"/>
            <a:ext cx="7686204" cy="1462736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ED11325-40D7-C68E-BE0A-A90C67F6D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F312801E-23CD-FC17-6AAD-FBE94780CCB9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F312801E-23CD-FC17-6AAD-FBE94780CC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139B832D-B287-E566-256B-16720F48A4F2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139B832D-B287-E566-256B-16720F48A4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95D72BEB-6903-CC1C-442B-0CFA31825DED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95D72BEB-6903-CC1C-442B-0CFA31825D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31298553-580C-0D6B-2FB1-842EE63D64A4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31298553-580C-0D6B-2FB1-842EE63D64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A6B6BE49-6074-0F60-A11B-690D86DF8088}"/>
                  </a:ext>
                </a:extLst>
              </p14:cNvPr>
              <p14:cNvContentPartPr/>
              <p14:nvPr/>
            </p14:nvContentPartPr>
            <p14:xfrm flipV="1">
              <a:off x="71120" y="3048000"/>
              <a:ext cx="9712960" cy="13208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A6B6BE49-6074-0F60-A11B-690D86DF80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flipV="1">
                <a:off x="-1699696880" y="-20066000"/>
                <a:ext cx="2147483647" cy="462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E9092E1F-EF08-65FC-ED33-97382376360F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E9092E1F-EF08-65FC-ED33-9738237636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DBF90334-050C-F165-B139-F4DB545AEEFA}"/>
                  </a:ext>
                </a:extLst>
              </p14:cNvPr>
              <p14:cNvContentPartPr/>
              <p14:nvPr/>
            </p14:nvContentPartPr>
            <p14:xfrm>
              <a:off x="6211629" y="1577662"/>
              <a:ext cx="1236651" cy="64842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DBF90334-050C-F165-B139-F4DB545AEEF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8645" y="1514969"/>
                <a:ext cx="1362260" cy="189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D5E17817-0733-80B3-21FF-9ABC1743FFC8}"/>
                  </a:ext>
                </a:extLst>
              </p14:cNvPr>
              <p14:cNvContentPartPr/>
              <p14:nvPr/>
            </p14:nvContentPartPr>
            <p14:xfrm flipH="1">
              <a:off x="7393784" y="715929"/>
              <a:ext cx="974549" cy="901315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D5E17817-0733-80B3-21FF-9ABC1743FF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 flipH="1">
                <a:off x="7330642" y="652963"/>
                <a:ext cx="1100472" cy="102688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375E4-E71F-A24B-0F35-A8DBB296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797" y="464086"/>
            <a:ext cx="6428510" cy="90003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highlight>
                  <a:srgbClr val="F3C230"/>
                </a:highlight>
                <a:latin typeface="Roboto"/>
                <a:ea typeface="Roboto"/>
                <a:cs typeface="Roboto"/>
              </a:rPr>
              <a:t>Термины и определения</a:t>
            </a:r>
            <a:endParaRPr lang="en-US" sz="4000" b="1" dirty="0">
              <a:highlight>
                <a:srgbClr val="F3C23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456CF-13BF-0DF7-D210-89BA154B1227}"/>
              </a:ext>
            </a:extLst>
          </p:cNvPr>
          <p:cNvSpPr txBox="1"/>
          <p:nvPr/>
        </p:nvSpPr>
        <p:spPr>
          <a:xfrm>
            <a:off x="4812977" y="1975362"/>
            <a:ext cx="710866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</a:rPr>
              <a:t>ГОСТ 29099‑91</a:t>
            </a:r>
            <a:r>
              <a:rPr lang="en-US" sz="2400" i="1" dirty="0">
                <a:solidFill>
                  <a:srgbClr val="222222"/>
                </a:solidFill>
              </a:rPr>
              <a:t> </a:t>
            </a:r>
            <a:r>
              <a:rPr lang="en-US" sz="2400" dirty="0">
                <a:solidFill>
                  <a:srgbClr val="222222"/>
                </a:solidFill>
              </a:rPr>
              <a:t>— </a:t>
            </a:r>
            <a:r>
              <a:rPr lang="en-US" sz="2400" err="1">
                <a:solidFill>
                  <a:srgbClr val="222222"/>
                </a:solidFill>
              </a:rPr>
              <a:t>Базовые</a:t>
            </a:r>
            <a:r>
              <a:rPr lang="en-US" sz="2400" dirty="0">
                <a:solidFill>
                  <a:srgbClr val="222222"/>
                </a:solidFill>
              </a:rPr>
              <a:t> </a:t>
            </a:r>
            <a:r>
              <a:rPr lang="en-US" sz="2400" err="1">
                <a:solidFill>
                  <a:srgbClr val="222222"/>
                </a:solidFill>
              </a:rPr>
              <a:t>понятия</a:t>
            </a:r>
            <a:r>
              <a:rPr lang="en-US" sz="2400" dirty="0">
                <a:solidFill>
                  <a:srgbClr val="222222"/>
                </a:solidFill>
              </a:rPr>
              <a:t> (ЛВС, </a:t>
            </a:r>
            <a:r>
              <a:rPr lang="en-US" sz="2400" err="1">
                <a:solidFill>
                  <a:srgbClr val="222222"/>
                </a:solidFill>
              </a:rPr>
              <a:t>топологии</a:t>
            </a:r>
            <a:r>
              <a:rPr lang="en-US" sz="2400" dirty="0">
                <a:solidFill>
                  <a:srgbClr val="222222"/>
                </a:solidFill>
              </a:rPr>
              <a:t>).</a:t>
            </a:r>
            <a:endParaRPr lang="ru-RU"/>
          </a:p>
          <a:p>
            <a:endParaRPr lang="en-US" sz="2400" b="1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</a:rPr>
              <a:t>ГОСТ IEC 60050‑732‑2017</a:t>
            </a:r>
            <a:r>
              <a:rPr lang="en-US" sz="2400" dirty="0">
                <a:solidFill>
                  <a:srgbClr val="222222"/>
                </a:solidFill>
              </a:rPr>
              <a:t> — </a:t>
            </a:r>
            <a:r>
              <a:rPr lang="en-US" sz="2400" dirty="0" err="1">
                <a:solidFill>
                  <a:srgbClr val="222222"/>
                </a:solidFill>
              </a:rPr>
              <a:t>Международная</a:t>
            </a:r>
            <a:r>
              <a:rPr lang="en-US" sz="2400" dirty="0">
                <a:solidFill>
                  <a:srgbClr val="222222"/>
                </a:solidFill>
              </a:rPr>
              <a:t> </a:t>
            </a:r>
            <a:r>
              <a:rPr lang="en-US" sz="2400" dirty="0" err="1">
                <a:solidFill>
                  <a:srgbClr val="222222"/>
                </a:solidFill>
              </a:rPr>
              <a:t>сетевая</a:t>
            </a:r>
            <a:r>
              <a:rPr lang="en-US" sz="2400" dirty="0">
                <a:solidFill>
                  <a:srgbClr val="222222"/>
                </a:solidFill>
              </a:rPr>
              <a:t> </a:t>
            </a:r>
            <a:r>
              <a:rPr lang="en-US" sz="2400" dirty="0" err="1">
                <a:solidFill>
                  <a:srgbClr val="222222"/>
                </a:solidFill>
              </a:rPr>
              <a:t>терминология</a:t>
            </a:r>
            <a:r>
              <a:rPr lang="en-US" sz="2400" dirty="0">
                <a:solidFill>
                  <a:srgbClr val="222222"/>
                </a:solidFill>
              </a:rPr>
              <a:t>.</a:t>
            </a:r>
            <a:endParaRPr lang="en-US"/>
          </a:p>
          <a:p>
            <a:endParaRPr lang="en-US" sz="2400" i="1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</a:rPr>
              <a:t>ГОСТ 33707‑2016</a:t>
            </a:r>
            <a:r>
              <a:rPr lang="en-US" sz="2400" dirty="0">
                <a:solidFill>
                  <a:srgbClr val="222222"/>
                </a:solidFill>
              </a:rPr>
              <a:t> — </a:t>
            </a:r>
            <a:r>
              <a:rPr lang="en-US" sz="2400" dirty="0" err="1">
                <a:solidFill>
                  <a:srgbClr val="222222"/>
                </a:solidFill>
              </a:rPr>
              <a:t>Стандартизированный</a:t>
            </a:r>
            <a:r>
              <a:rPr lang="en-US" sz="2400" dirty="0">
                <a:solidFill>
                  <a:srgbClr val="222222"/>
                </a:solidFill>
              </a:rPr>
              <a:t> ИТ-</a:t>
            </a:r>
            <a:r>
              <a:rPr lang="en-US" sz="2400" dirty="0" err="1">
                <a:solidFill>
                  <a:srgbClr val="222222"/>
                </a:solidFill>
              </a:rPr>
              <a:t>словарь</a:t>
            </a:r>
            <a:r>
              <a:rPr lang="en-US" sz="2400" dirty="0">
                <a:solidFill>
                  <a:srgbClr val="222222"/>
                </a:solidFill>
              </a:rPr>
              <a:t>.</a:t>
            </a:r>
            <a:endParaRPr lang="en-US"/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0" name="Рисунок 9" descr="Изображение выглядит как в помещении, кот, компьютер, компьютерный монито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354E40-FDD7-DDD5-8392-45DCC27373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316181" y="-230084"/>
            <a:ext cx="6125687" cy="73379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Рисунок 15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3E0333-0CEA-0269-E580-F85C46D7BCE6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48000"/>
          </a:blip>
          <a:stretch>
            <a:fillRect/>
          </a:stretch>
        </p:blipFill>
        <p:spPr>
          <a:xfrm flipH="1">
            <a:off x="10908227" y="6321776"/>
            <a:ext cx="856749" cy="592668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1A75226F-49A6-E94C-4852-7370B522A93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flipH="1">
            <a:off x="7278972" y="343478"/>
            <a:ext cx="1000360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8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8388-3390-BC5D-AF0D-73BA0F5F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Объект 13" descr="Изображение выглядит как мех, ко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E031E4C-6684-FBA1-7FF6-DAC6A7188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" y="5218584"/>
            <a:ext cx="7281159" cy="16440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B69382A3-271F-6950-FBC6-C4AECCF20D8E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B69382A3-271F-6950-FBC6-C4AECCF20D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DD708CDB-1010-F4F7-3A8D-6C303A7D238D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DD708CDB-1010-F4F7-3A8D-6C303A7D23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9B0A3287-72C0-D4C9-336C-224FECA5D051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9B0A3287-72C0-D4C9-336C-224FECA5D0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6DC2287E-F0E7-24E0-7F57-354D25BC1B09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6DC2287E-F0E7-24E0-7F57-354D25BC1B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92765B0E-61B6-3035-909C-A979D8BB1501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92765B0E-61B6-3035-909C-A979D8BB15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513B6-EB83-CE5C-38D0-6CC8581E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622424"/>
            <a:ext cx="7121236" cy="900031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highlight>
                  <a:srgbClr val="F3C230"/>
                </a:highlight>
                <a:latin typeface="Roboto"/>
                <a:ea typeface="Roboto"/>
                <a:cs typeface="Roboto"/>
              </a:rPr>
              <a:t>Архитектура и инфраструктура</a:t>
            </a:r>
            <a:endParaRPr lang="ru-RU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33234-0FFC-C206-3A77-3FA855E3FE3E}"/>
              </a:ext>
            </a:extLst>
          </p:cNvPr>
          <p:cNvSpPr txBox="1"/>
          <p:nvPr/>
        </p:nvSpPr>
        <p:spPr>
          <a:xfrm>
            <a:off x="290457" y="1915985"/>
            <a:ext cx="710866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  <a:ea typeface="+mn-lt"/>
                <a:cs typeface="+mn-lt"/>
              </a:rPr>
              <a:t>ГОСТ Р 53246‑2008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Проектирование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структурированных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кабельных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систем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(СКС).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400" b="1" i="1" dirty="0">
              <a:solidFill>
                <a:srgbClr val="22222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>
                <a:solidFill>
                  <a:srgbClr val="222222"/>
                </a:solidFill>
                <a:ea typeface="+mn-lt"/>
                <a:cs typeface="+mn-lt"/>
              </a:rPr>
              <a:t>ГОСТ Р 59162‑2020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Безопасность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беспроводных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 IP-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сетей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5" name="Рисунок 14" descr="Изображение выглядит как в помещении, компьютер, Устройство вывода, электрон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C44441-8A22-5B22-F953-1A60958DF8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9519" y="-158336"/>
            <a:ext cx="6491844" cy="72241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Рисунок 15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ECCEB8-0F5C-2CAD-34E3-091111390FA8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48000"/>
          </a:blip>
          <a:stretch>
            <a:fillRect/>
          </a:stretch>
        </p:blipFill>
        <p:spPr>
          <a:xfrm flipH="1">
            <a:off x="5988153" y="3066813"/>
            <a:ext cx="856749" cy="592668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кот, текст, книга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75BCA1-5EE6-F5F1-7F86-01BFB23384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22" y="3862035"/>
            <a:ext cx="1610549" cy="1250598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FCD40DEA-CD5A-B61F-C591-ABBEB17292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4158887" y="4830811"/>
            <a:ext cx="812212" cy="56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5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846B-FEF9-C847-8C44-3707C671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Изображение выглядит как текст, Шриф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93E69D-5BEC-DB58-E7C5-239751FF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588" y="5722634"/>
            <a:ext cx="5601327" cy="111826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6199B7A-5B23-9E4F-DB2F-97D82731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6981EAB5-7F76-5E36-7FF7-DF1A898FE3A3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6981EAB5-7F76-5E36-7FF7-DF1A898FE3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87C363A7-D44F-4CF4-6B77-A22BD300DB17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87C363A7-D44F-4CF4-6B77-A22BD300DB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C7811F02-FAE6-A105-34D8-1D056F77865D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C7811F02-FAE6-A105-34D8-1D056F7786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56C82404-B5D7-0044-DEA9-4DED72D0F7EA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56C82404-B5D7-0044-DEA9-4DED72D0F7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C79F9260-DCDE-1873-4BD7-C7D1960556AC}"/>
                  </a:ext>
                </a:extLst>
              </p14:cNvPr>
              <p14:cNvContentPartPr/>
              <p14:nvPr/>
            </p14:nvContentPartPr>
            <p14:xfrm flipV="1">
              <a:off x="71120" y="3048000"/>
              <a:ext cx="9712960" cy="13208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C79F9260-DCDE-1873-4BD7-C7D1960556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flipV="1">
                <a:off x="-1699696880" y="-20066000"/>
                <a:ext cx="2147483647" cy="462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10847199-A242-AC43-044E-B31EC925FB13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10847199-A242-AC43-044E-B31EC925FB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6E8BB31C-EAD2-8944-96F6-5818CAE6DFB2}"/>
                  </a:ext>
                </a:extLst>
              </p14:cNvPr>
              <p14:cNvContentPartPr/>
              <p14:nvPr/>
            </p14:nvContentPartPr>
            <p14:xfrm>
              <a:off x="6211629" y="1577662"/>
              <a:ext cx="1236651" cy="64842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6E8BB31C-EAD2-8944-96F6-5818CAE6DF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48645" y="1514969"/>
                <a:ext cx="1362260" cy="18986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4324B-97F9-21D6-1B0E-6560893C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135" y="1265396"/>
            <a:ext cx="6428510" cy="900031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highlight>
                  <a:srgbClr val="F3C230"/>
                </a:highlight>
                <a:latin typeface="Roboto"/>
                <a:ea typeface="Roboto"/>
                <a:cs typeface="Roboto"/>
              </a:rPr>
              <a:t>Безопасность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2044D-CC99-3F98-5D14-F2A6864B39CD}"/>
              </a:ext>
            </a:extLst>
          </p:cNvPr>
          <p:cNvSpPr txBox="1"/>
          <p:nvPr/>
        </p:nvSpPr>
        <p:spPr>
          <a:xfrm>
            <a:off x="4933182" y="2121225"/>
            <a:ext cx="7108668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000" b="1" i="1" dirty="0">
                <a:solidFill>
                  <a:srgbClr val="222222"/>
                </a:solidFill>
                <a:ea typeface="+mn-lt"/>
                <a:cs typeface="+mn-lt"/>
              </a:rPr>
              <a:t>ГОСТ Р ИСО/МЭК 27033‑1‑2011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Основы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концепции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сетевой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безопасности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ru-RU" sz="2000" dirty="0">
              <a:solidFill>
                <a:srgbClr val="000000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000" b="1" i="1" dirty="0">
              <a:solidFill>
                <a:srgbClr val="22222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en-US" sz="2000" b="1" i="1" dirty="0">
                <a:solidFill>
                  <a:srgbClr val="222222"/>
                </a:solidFill>
                <a:ea typeface="+mn-lt"/>
                <a:cs typeface="+mn-lt"/>
              </a:rPr>
              <a:t>ГОСТ Р ИСО/МЭК 27033‑3‑2014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Защита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для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типовых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сетевых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сценариев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 sz="2000" dirty="0"/>
          </a:p>
          <a:p>
            <a:pPr marL="342900" indent="-342900">
              <a:buFont typeface="Calibri"/>
              <a:buChar char="-"/>
            </a:pPr>
            <a:endParaRPr lang="en-US" sz="2000" dirty="0">
              <a:solidFill>
                <a:srgbClr val="22222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en-US" sz="2000" b="1" i="1" dirty="0">
                <a:solidFill>
                  <a:srgbClr val="222222"/>
                </a:solidFill>
                <a:ea typeface="+mn-lt"/>
                <a:cs typeface="+mn-lt"/>
              </a:rPr>
              <a:t>ГОСТ Р 59710‑2022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Управление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компьютерными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инцидентами</a:t>
            </a:r>
            <a:r>
              <a:rPr lang="en-US" sz="2000" dirty="0">
                <a:solidFill>
                  <a:srgbClr val="222222"/>
                </a:solidFill>
                <a:ea typeface="+mn-lt"/>
                <a:cs typeface="+mn-lt"/>
              </a:rPr>
              <a:t> (</a:t>
            </a:r>
            <a:r>
              <a:rPr lang="en-US" sz="2000" dirty="0" err="1">
                <a:solidFill>
                  <a:srgbClr val="222222"/>
                </a:solidFill>
                <a:ea typeface="+mn-lt"/>
                <a:cs typeface="+mn-lt"/>
              </a:rPr>
              <a:t>ГосСОПКА</a:t>
            </a:r>
            <a:r>
              <a:rPr lang="en-US" sz="2000" dirty="0" smtClean="0">
                <a:solidFill>
                  <a:srgbClr val="222222"/>
                </a:solidFill>
                <a:ea typeface="+mn-lt"/>
                <a:cs typeface="+mn-lt"/>
              </a:rPr>
              <a:t>).</a:t>
            </a:r>
            <a:endParaRPr lang="ru-RU" sz="2000" dirty="0" smtClean="0">
              <a:solidFill>
                <a:srgbClr val="22222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000" dirty="0"/>
          </a:p>
          <a:p>
            <a:pPr marL="342900" indent="-342900">
              <a:buFont typeface="Calibri"/>
              <a:buChar char="-"/>
            </a:pPr>
            <a:r>
              <a:rPr lang="ru-RU" sz="2000" b="1" dirty="0"/>
              <a:t>ГОСТ Р ИСО/МЭК 12207-2010</a:t>
            </a:r>
            <a:r>
              <a:rPr lang="ru-RU" sz="2000" dirty="0"/>
              <a:t> — системная и программная инженерия, описывающая процессы </a:t>
            </a:r>
            <a:r>
              <a:rPr lang="ru-RU" sz="2000" b="1" dirty="0"/>
              <a:t>жизненного цикла программных средств</a:t>
            </a:r>
            <a:r>
              <a:rPr lang="ru-RU" sz="2000" dirty="0"/>
              <a:t>. </a:t>
            </a:r>
            <a:endParaRPr lang="en-US" sz="2000" dirty="0">
              <a:solidFill>
                <a:srgbClr val="222222"/>
              </a:solidFill>
            </a:endParaRPr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1" name="Рисунок 10" descr="Изображение выглядит как млекопитающее, игрушка, копил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E2E4F4-0FD0-CCD4-D672-45A4A3C784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57685" y="299275"/>
            <a:ext cx="2238376" cy="174353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на открытом воздухе, человек, Наземный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62A61D-BBB3-FDAE-674C-DB3405D0F2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3402" y="-1133"/>
            <a:ext cx="4823732" cy="6860266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млекопитающее, текст, медведь, на открытом воздух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4363C2-1046-C48D-6007-A711BCC58F3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97366" y="141112"/>
            <a:ext cx="3490150" cy="1128890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E86DFD-AC62-4B74-E078-ACD1BAD1AF9E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48000"/>
          </a:blip>
          <a:stretch>
            <a:fillRect/>
          </a:stretch>
        </p:blipFill>
        <p:spPr>
          <a:xfrm>
            <a:off x="4841125" y="5719703"/>
            <a:ext cx="319176" cy="111948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8D719168-9B23-9DB6-3AC7-52410021118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09109" y="1255997"/>
            <a:ext cx="758825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2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FC900-6F72-9D10-5021-EC3DE459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6019C35B-D1E0-499E-AAFC-594D25D7455C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6019C35B-D1E0-499E-AAFC-594D25D745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BC6413D9-BE50-6196-4D58-110698160968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BC6413D9-BE50-6196-4D58-1106981609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672D3E63-4489-3C27-0D1A-7A643738B203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672D3E63-4489-3C27-0D1A-7A643738B2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6FC050E5-5BC3-1254-603F-67C052899689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6FC050E5-5BC3-1254-603F-67C0528996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FD02F1A2-4451-0E3E-4AF3-ADE4A87AF3B2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FD02F1A2-4451-0E3E-4AF3-ADE4A87AF3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EDFF2-325E-215A-943D-81594530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622424"/>
            <a:ext cx="7121236" cy="900031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00000"/>
                </a:solidFill>
                <a:highlight>
                  <a:srgbClr val="F3C230"/>
                </a:highlight>
                <a:latin typeface="Roboto"/>
                <a:ea typeface="Roboto"/>
                <a:cs typeface="Roboto"/>
              </a:rPr>
              <a:t>Качество и надёжность</a:t>
            </a:r>
            <a:endParaRPr lang="ru-RU" sz="3600" dirty="0">
              <a:solidFill>
                <a:srgbClr val="000000"/>
              </a:solidFill>
              <a:highlight>
                <a:srgbClr val="F3C23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71491-F356-11AE-5867-95940A69630E}"/>
              </a:ext>
            </a:extLst>
          </p:cNvPr>
          <p:cNvSpPr txBox="1"/>
          <p:nvPr/>
        </p:nvSpPr>
        <p:spPr>
          <a:xfrm>
            <a:off x="290457" y="1915985"/>
            <a:ext cx="710866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  <a:ea typeface="+mn-lt"/>
                <a:cs typeface="+mn-lt"/>
              </a:rPr>
              <a:t>ГОСТ Р 53246‑2008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Проектирование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структурированных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кабельных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систем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(СКС).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400" b="1" i="1" dirty="0">
              <a:solidFill>
                <a:srgbClr val="22222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>
                <a:solidFill>
                  <a:srgbClr val="222222"/>
                </a:solidFill>
                <a:ea typeface="+mn-lt"/>
                <a:cs typeface="+mn-lt"/>
              </a:rPr>
              <a:t>ГОСТ Р 59162‑2020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Безопасность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беспроводных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 IP-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сетей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0" name="Объект 9" descr="Изображение выглядит как Порода собаки, домашнее животное, собака, гонча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20EEBD-5759-E82D-11EC-D83D5486B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112889" y="4829146"/>
            <a:ext cx="6726296" cy="203200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в помещении, компьютер, компьютерный монитор, сте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561DFB-F8B7-CE7C-052C-815ED2F75A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4371" y="-587"/>
            <a:ext cx="5117629" cy="6859176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звезда, желтый, оригам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522D64-101C-9B26-1ED9-E7EA4F8E3E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3371" y="4252148"/>
            <a:ext cx="809038" cy="7902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Рисунок 15" descr="Изображение выглядит как Шрифт, белый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840B20-856A-5AB6-A84E-1F58B90983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5089995" y="4454995"/>
            <a:ext cx="1299398" cy="582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Рисунок 17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F00BD7E-BA21-283F-1B5C-CD8575E351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84890" y="5846812"/>
            <a:ext cx="758825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7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FF366-1753-32C8-368D-2DB016A1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3430" y="2058458"/>
            <a:ext cx="252119" cy="1363191"/>
          </a:xfrm>
        </p:spPr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млекопитающее, кот, Мелкие и средние кошки, Кошачь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24EEC6-2E24-C85B-B1EC-54DAC965D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2" y="-3439"/>
            <a:ext cx="12280429" cy="6861762"/>
          </a:xfrm>
          <a:prstGeom prst="rect">
            <a:avLst/>
          </a:prstGeom>
        </p:spPr>
      </p:pic>
      <p:sp>
        <p:nvSpPr>
          <p:cNvPr id="5" name="Пузырек для мыслей: облако 4">
            <a:extLst>
              <a:ext uri="{FF2B5EF4-FFF2-40B4-BE49-F238E27FC236}">
                <a16:creationId xmlns:a16="http://schemas.microsoft.com/office/drawing/2014/main" id="{C36BD24D-76CA-1264-5042-084836A1D651}"/>
              </a:ext>
            </a:extLst>
          </p:cNvPr>
          <p:cNvSpPr/>
          <p:nvPr/>
        </p:nvSpPr>
        <p:spPr>
          <a:xfrm>
            <a:off x="8062148" y="809037"/>
            <a:ext cx="4054592" cy="2314222"/>
          </a:xfrm>
          <a:prstGeom prst="cloud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млекопитающее, кот, домашняя кошка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A22BC8-BFEE-04F3-D2CB-7F0BB628B1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tretch>
            <a:fillRect/>
          </a:stretch>
        </p:blipFill>
        <p:spPr>
          <a:xfrm>
            <a:off x="8951325" y="983486"/>
            <a:ext cx="2276240" cy="19653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7266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932F0-C33E-1760-B8AC-CE8B784E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228A7D28-9025-1BA1-4BE2-F44B45C08187}"/>
                  </a:ext>
                </a:extLst>
              </p14:cNvPr>
              <p14:cNvContentPartPr/>
              <p14:nvPr/>
            </p14:nvContentPartPr>
            <p14:xfrm>
              <a:off x="6370319" y="364744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228A7D28-9025-1BA1-4BE2-F44B45C081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2319" y="1869440"/>
                <a:ext cx="3556000" cy="355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Объект 5" descr="Изображение выглядит как текст, мультфильм, снимок экрана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FC072E-CAF5-67F9-91A9-0F21E0990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-983" y="4258"/>
            <a:ext cx="12193965" cy="6984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D8EDB5-1E3D-BDE9-BA27-81B253E8EA26}"/>
              </a:ext>
            </a:extLst>
          </p:cNvPr>
          <p:cNvSpPr txBox="1"/>
          <p:nvPr/>
        </p:nvSpPr>
        <p:spPr>
          <a:xfrm>
            <a:off x="4987637" y="5759531"/>
            <a:ext cx="110836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5400" dirty="0">
                <a:ea typeface="+mn-lt"/>
                <a:cs typeface="+mn-lt"/>
              </a:rPr>
              <a:t>🤓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49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90058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112</Words>
  <Application>Microsoft Office PowerPoint</Application>
  <PresentationFormat>Широкоэкранный</PresentationFormat>
  <Paragraphs>42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PT Serif</vt:lpstr>
      <vt:lpstr>Roboto</vt:lpstr>
      <vt:lpstr>YS Text</vt:lpstr>
      <vt:lpstr>Тема Office</vt:lpstr>
      <vt:lpstr> в области компьютерных сетей </vt:lpstr>
      <vt:lpstr>Зачем нужны ГОСТы в IT ?</vt:lpstr>
      <vt:lpstr>Некоторые цели стандартизации в IT с помощью ГОСТов:</vt:lpstr>
      <vt:lpstr>Презентация PowerPoint</vt:lpstr>
      <vt:lpstr>Термины и определения</vt:lpstr>
      <vt:lpstr>Архитектура и инфраструктура</vt:lpstr>
      <vt:lpstr>Безопасность</vt:lpstr>
      <vt:lpstr>Качество и надёжность</vt:lpstr>
      <vt:lpstr>Презентация PowerPoint</vt:lpstr>
      <vt:lpstr>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в области компьютерных сетей </dc:title>
  <dc:creator/>
  <cp:lastModifiedBy>Винокурова Мария Алексеевна</cp:lastModifiedBy>
  <cp:revision>1383</cp:revision>
  <dcterms:created xsi:type="dcterms:W3CDTF">2024-12-22T16:27:31Z</dcterms:created>
  <dcterms:modified xsi:type="dcterms:W3CDTF">2026-02-03T07:08:44Z</dcterms:modified>
</cp:coreProperties>
</file>